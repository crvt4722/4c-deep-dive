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7" r:id="rId2"/>
    <p:sldId id="284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9" r:id="rId14"/>
    <p:sldId id="280" r:id="rId15"/>
    <p:sldId id="281" r:id="rId16"/>
    <p:sldId id="282" r:id="rId17"/>
    <p:sldId id="283" r:id="rId18"/>
    <p:sldId id="273" r:id="rId19"/>
    <p:sldId id="278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26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286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the four [ ] fields: talk title, one-line description, speaker name, and role/company. Keep the title under ~10 words. Do not move the landmark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540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
Ảnh diễn giả: hai hình tròn hiện là ảnh tạm. Click phải vào ảnh → Change Picture / Đổi hình ảnh → chọn ảnh chân dung (nên dùng ảnh vuông, mặt ở giữa) để cắt tròn cho đẹp.
Mở đầu: chào, giới thiệu 2 diễn giả trong ~30 giây, rồi vào ngay câu hỏi mở.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4479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 qua nhanh 6 phần. Nhấn rằng phần 4 (9 lớp) là trọng tâm và mỗi lớp đều gắn với dự án thực tế.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Chuyển vào phần hiện trạng. Đặt vấn đề bằng dữ liệu, không nói chung chung.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điệp: càng nhiều microservice/API/cloud thì càng nhiều đường vào. Identity và cloud hạ tầng là mục tiêu chính.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Điểm nhấn: phần lớn sự cố đến từ cấu hình sai — tức là PHÒNG ĐƯỢC. Và bảo mật yếu đang trực tiếp làm chậm kinh doanh.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Chuỗi cung ứng là mặt trận tăng nhanh nhất. Đây là lý do Layer 4 (image) và Layer 8 (code/supply chain) cực kỳ quan trọng.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Chốt phần hiện trạng: vấn đề không phải thiếu tool mà thiếu mô hình. Đây chính là cầu nối sang giải pháp 4C.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giải pháp. 4C là mô hình chuẩn của CNCF, đơn giản mà bao trùm.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4C là mô hình lồng nhau (nested). Không thể vá lớp trong nếu lớp ngoài hở. Đây là nền để dẫn sang 9 lớp.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ánh xạ: giúp khán giả thấy 9 lớp không phải ngẫu nhiên mà bám sát 4C. L7 là cross-cutting.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Trọng tâm bài nói. Mỗi slide theo đúng 4 khối. Phần 'Mình đã áp dụng' gắn với dự án thực.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C1 – Cloud. L1: rủi ro nằm ở cloud account chứ không chỉ ở K8s. L2: node là nền móng; chiếm host là bypass toàn bộ cơ chế cô lập của Kubernetes. Nhấn: least privilege + immutable OS + patch tự động.
NÓI THÊM (không lên slide):
• L1 – Không quy hoạch mạng: mọi tài nguyên chung một vùng → Phân vùng mạng theo mức độ nhạy cảm.
• L2 – Kernel/sysctl để mặc định, không hardening → bật SELinux / AppArmor và seccomp ở mức kernel.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35909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C2 (1/2) – Control plane &amp; etcd. Đây là lớp có bán kính thiệt hại lớn nhất. Nhấn 3 quick win: mã hóa etcd at-rest, tắt anonymous auth, bật audit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15159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C2 (2/2) – Network &amp; Manifests. Hai default-deny cần có: NetworkPolicy default-deny và RBAC tối thiểu. Policy-as-code là cách ép chuẩn ở quy mô lớn.
NÓI THÊM (không lên slide):
• L5 – Nhiều hệ thống chạy production nhiều năm mà chưa từng tạo một NetworkPolicy.
• L6 – Thiếu requests/limits → dễ bị DoS bằng cạn tài nguyên; xử lý bằng Quota + quét misconfig ở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43993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C3 – Container. L4 là phòng ngừa, L7 là phát hiện. L7 là lớp cross-cutting. Nhấn: image ký bằng Cosign + Falco rule cho exec/spawn shell.
NÓI THÊM (không lên slide):
• L4 – Runtime dùng chung: workload không tin cậy chung kernel → sandbox runtime gVisor / Kata.
• L7 – Không có baseline: alert bắn ra nhưng không ai xử lý → baseline + tuning để cảnh báo có tín hiệu thực.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5258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C4 – Code &amp; Governance. Nhấn: security gate trong pipeline, SBOM, và offboarding gắn IAM + short-lived credential.
NÓI THÊM (không lên slide):
• L8 – Thiếu secure coding, review chỉ nhìn logic; dùng secret manager và xoay ngay secret bị lộ.
• L9 – Đào tạo nhận thức (phishing, quản lý secret) và managed device: device posture, mã hóa ổ đĩa, EDR.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33687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Đọc các takeaway. Nhấn takeaway cuối: bảo mật là lợi thế cạnh tranh, không phải chi phí.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Leave this up during Q&amp;A so your handle and hashtag stay visible. Mirror the 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3973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c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4048"/>
            <a:ext cx="949257" cy="749808"/>
          </a:xfrm>
          <a:prstGeom prst="rect">
            <a:avLst/>
          </a:prstGeom>
        </p:spPr>
      </p:pic>
      <p:pic>
        <p:nvPicPr>
          <p:cNvPr id="3" name="Image 1" descr="oi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4201" y="384048"/>
            <a:ext cx="968752" cy="7498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62495" y="566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DE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July 25, 2026  ·  Sheraton Hanoi Hotel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548640" y="141732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00"/>
              </a:lnSpc>
            </a:pPr>
            <a:r>
              <a:rPr lang="en-US" sz="44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4C's of Cloud Native Security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566928" y="271054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vi-VN" sz="1700" i="1" dirty="0">
                <a:solidFill>
                  <a:srgbClr val="F7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mô hình 4C của CNCF đến chiến lược phòng thủ 9 lớp thực chiến — cho môi trường Kubernetes doanh nghiệp.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68630" y="4162477"/>
            <a:ext cx="109728" cy="109728"/>
          </a:xfrm>
          <a:prstGeom prst="rect">
            <a:avLst/>
          </a:prstGeom>
          <a:solidFill>
            <a:srgbClr val="7A0504"/>
          </a:solidFill>
          <a:ln/>
        </p:spPr>
      </p:sp>
      <p:sp>
        <p:nvSpPr>
          <p:cNvPr id="8" name="Shape 4"/>
          <p:cNvSpPr/>
          <p:nvPr/>
        </p:nvSpPr>
        <p:spPr>
          <a:xfrm>
            <a:off x="596646" y="4162477"/>
            <a:ext cx="109728" cy="109728"/>
          </a:xfrm>
          <a:prstGeom prst="rect">
            <a:avLst/>
          </a:prstGeom>
          <a:solidFill>
            <a:srgbClr val="F1C560"/>
          </a:solidFill>
          <a:ln/>
        </p:spPr>
      </p:sp>
      <p:sp>
        <p:nvSpPr>
          <p:cNvPr id="9" name="Shape 5"/>
          <p:cNvSpPr/>
          <p:nvPr/>
        </p:nvSpPr>
        <p:spPr>
          <a:xfrm>
            <a:off x="468630" y="4290493"/>
            <a:ext cx="109728" cy="109728"/>
          </a:xfrm>
          <a:prstGeom prst="rect">
            <a:avLst/>
          </a:prstGeom>
          <a:solidFill>
            <a:srgbClr val="F1C560"/>
          </a:solidFill>
          <a:ln/>
        </p:spPr>
      </p:sp>
      <p:sp>
        <p:nvSpPr>
          <p:cNvPr id="10" name="Shape 6"/>
          <p:cNvSpPr/>
          <p:nvPr/>
        </p:nvSpPr>
        <p:spPr>
          <a:xfrm>
            <a:off x="596646" y="4290493"/>
            <a:ext cx="109728" cy="109728"/>
          </a:xfrm>
          <a:prstGeom prst="rect">
            <a:avLst/>
          </a:prstGeom>
          <a:solidFill>
            <a:srgbClr val="7A0504"/>
          </a:solidFill>
          <a:ln/>
        </p:spPr>
      </p:sp>
      <p:sp>
        <p:nvSpPr>
          <p:cNvPr id="11" name="Text 7"/>
          <p:cNvSpPr/>
          <p:nvPr/>
        </p:nvSpPr>
        <p:spPr>
          <a:xfrm>
            <a:off x="779526" y="4071037"/>
            <a:ext cx="24535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Phạm</a:t>
            </a:r>
            <a:r>
              <a:rPr kumimoji="0" lang="en-US" sz="1800" b="1" i="0" u="none" strike="noStrike" kern="120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800" b="1" i="0" u="none" strike="noStrike" kern="1200" cap="none" spc="0" normalizeH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Văn</a:t>
            </a:r>
            <a:r>
              <a:rPr kumimoji="0" lang="en-US" sz="1800" b="1" i="0" u="none" strike="noStrike" kern="120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800" b="1" i="0" u="none" strike="noStrike" kern="1200" cap="none" spc="0" normalizeH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Tới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/>
            <a:r>
              <a:rPr kumimoji="0" lang="en-US" sz="135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DE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</a:t>
            </a:r>
            <a:r>
              <a:rPr kumimoji="0" lang="en-US" sz="1350" b="0" i="0" u="none" strike="noStrike" kern="1200" cap="none" spc="0" normalizeH="0" noProof="0" dirty="0" smtClean="0">
                <a:ln>
                  <a:noFill/>
                </a:ln>
                <a:solidFill>
                  <a:srgbClr val="F7DE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F7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350" dirty="0" err="1" smtClean="0">
                <a:solidFill>
                  <a:srgbClr val="F7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Kubestronaut</a:t>
            </a:r>
            <a:endParaRPr lang="en-US" sz="1350" dirty="0">
              <a:solidFill>
                <a:srgbClr val="F7DE9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0"/>
            <a:r>
              <a:rPr kumimoji="0" lang="en-US" sz="135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7DE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Viettel</a:t>
            </a:r>
            <a:r>
              <a:rPr kumimoji="0" lang="en-US" sz="1350" b="0" i="0" u="none" strike="noStrike" kern="1200" cap="none" spc="0" normalizeH="0" noProof="0" dirty="0" smtClean="0">
                <a:ln>
                  <a:noFill/>
                </a:ln>
                <a:solidFill>
                  <a:srgbClr val="F7DE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Networks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68630" y="1933956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Practical 9-Layer Defense Strategy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4" name="Shape 3"/>
          <p:cNvSpPr/>
          <p:nvPr/>
        </p:nvSpPr>
        <p:spPr>
          <a:xfrm>
            <a:off x="4654187" y="4162477"/>
            <a:ext cx="109728" cy="109728"/>
          </a:xfrm>
          <a:prstGeom prst="rect">
            <a:avLst/>
          </a:prstGeom>
          <a:solidFill>
            <a:srgbClr val="7A0504"/>
          </a:solidFill>
          <a:ln/>
        </p:spPr>
      </p:sp>
      <p:sp>
        <p:nvSpPr>
          <p:cNvPr id="15" name="Shape 4"/>
          <p:cNvSpPr/>
          <p:nvPr/>
        </p:nvSpPr>
        <p:spPr>
          <a:xfrm>
            <a:off x="4782203" y="4162477"/>
            <a:ext cx="109728" cy="109728"/>
          </a:xfrm>
          <a:prstGeom prst="rect">
            <a:avLst/>
          </a:prstGeom>
          <a:solidFill>
            <a:srgbClr val="F1C560"/>
          </a:solidFill>
          <a:ln/>
        </p:spPr>
      </p:sp>
      <p:sp>
        <p:nvSpPr>
          <p:cNvPr id="16" name="Shape 5"/>
          <p:cNvSpPr/>
          <p:nvPr/>
        </p:nvSpPr>
        <p:spPr>
          <a:xfrm>
            <a:off x="4654187" y="4290493"/>
            <a:ext cx="109728" cy="109728"/>
          </a:xfrm>
          <a:prstGeom prst="rect">
            <a:avLst/>
          </a:prstGeom>
          <a:solidFill>
            <a:srgbClr val="F1C560"/>
          </a:solidFill>
          <a:ln/>
        </p:spPr>
      </p:sp>
      <p:sp>
        <p:nvSpPr>
          <p:cNvPr id="17" name="Shape 6"/>
          <p:cNvSpPr/>
          <p:nvPr/>
        </p:nvSpPr>
        <p:spPr>
          <a:xfrm>
            <a:off x="4782203" y="4290493"/>
            <a:ext cx="109728" cy="109728"/>
          </a:xfrm>
          <a:prstGeom prst="rect">
            <a:avLst/>
          </a:prstGeom>
          <a:solidFill>
            <a:srgbClr val="7A0504"/>
          </a:solidFill>
          <a:ln/>
        </p:spPr>
      </p:sp>
      <p:sp>
        <p:nvSpPr>
          <p:cNvPr id="18" name="Text 7"/>
          <p:cNvSpPr/>
          <p:nvPr/>
        </p:nvSpPr>
        <p:spPr>
          <a:xfrm>
            <a:off x="4965083" y="4071037"/>
            <a:ext cx="32481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Đỗ</a:t>
            </a: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</a:t>
            </a: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/>
            <a:r>
              <a:rPr kumimoji="0" lang="en-US" sz="135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DE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</a:t>
            </a:r>
            <a:r>
              <a:rPr kumimoji="0" lang="en-US" sz="1350" b="0" i="0" u="none" strike="noStrike" kern="1200" cap="none" spc="0" normalizeH="0" noProof="0" dirty="0" smtClean="0">
                <a:ln>
                  <a:noFill/>
                </a:ln>
                <a:solidFill>
                  <a:srgbClr val="F7DE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F7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350" dirty="0" smtClean="0">
                <a:solidFill>
                  <a:srgbClr val="F7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 Security Master </a:t>
            </a:r>
            <a:endParaRPr lang="en-US" sz="1350" dirty="0">
              <a:solidFill>
                <a:srgbClr val="F7DE9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0"/>
            <a:r>
              <a:rPr kumimoji="0" lang="en-US" sz="135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7DE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Viettel</a:t>
            </a:r>
            <a:r>
              <a:rPr kumimoji="0" lang="en-US" sz="1350" b="0" i="0" u="none" strike="noStrike" kern="1200" cap="none" spc="0" normalizeH="0" noProof="0" dirty="0" smtClean="0">
                <a:ln>
                  <a:noFill/>
                </a:ln>
                <a:solidFill>
                  <a:srgbClr val="F7DE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Networks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9777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packed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4048"/>
            <a:ext cx="952439" cy="752734"/>
          </a:xfrm>
          <a:prstGeom prst="rect">
            <a:avLst/>
          </a:prstGeom>
        </p:spPr>
      </p:pic>
      <p:pic>
        <p:nvPicPr>
          <p:cNvPr id="3" name="Image 1" descr="unpacked/ppt/media/im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384048"/>
            <a:ext cx="1075334" cy="64520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59752" y="502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7DE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July 25, 2026  ·  Sheraton Hanoi Hotel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548640" y="1243584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4C's of Cloud Native Security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2"/>
          <p:cNvSpPr/>
          <p:nvPr/>
        </p:nvSpPr>
        <p:spPr>
          <a:xfrm>
            <a:off x="548640" y="212140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1C5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Practical 9-Layer Defense Strategy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3"/>
          <p:cNvSpPr/>
          <p:nvPr/>
        </p:nvSpPr>
        <p:spPr>
          <a:xfrm>
            <a:off x="548640" y="2615184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D8CF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Từ mô hình 4C của CNCF đến chiến lược phòng thủ 9 lớp thực chiến — cho môi trường Kubernetes doanh nghiệp.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48640" y="3310128"/>
            <a:ext cx="118872" cy="118872"/>
          </a:xfrm>
          <a:prstGeom prst="rect">
            <a:avLst/>
          </a:prstGeom>
          <a:solidFill>
            <a:srgbClr val="7A0504"/>
          </a:solidFill>
          <a:ln w="12700">
            <a:solidFill>
              <a:srgbClr val="7A050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85800" y="3310128"/>
            <a:ext cx="118872" cy="118872"/>
          </a:xfrm>
          <a:prstGeom prst="rect">
            <a:avLst/>
          </a:prstGeom>
          <a:solidFill>
            <a:srgbClr val="F1C560"/>
          </a:solidFill>
          <a:ln w="12700">
            <a:solidFill>
              <a:srgbClr val="F1C56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3447288"/>
            <a:ext cx="118872" cy="118872"/>
          </a:xfrm>
          <a:prstGeom prst="rect">
            <a:avLst/>
          </a:prstGeom>
          <a:solidFill>
            <a:srgbClr val="F1C560"/>
          </a:solidFill>
          <a:ln w="12700">
            <a:solidFill>
              <a:srgbClr val="F1C56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85800" y="3447288"/>
            <a:ext cx="118872" cy="118872"/>
          </a:xfrm>
          <a:prstGeom prst="rect">
            <a:avLst/>
          </a:prstGeom>
          <a:solidFill>
            <a:srgbClr val="7A0504"/>
          </a:solidFill>
          <a:ln w="12700">
            <a:solidFill>
              <a:srgbClr val="7A050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32688" y="3291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50" normalizeH="0" baseline="0" noProof="0" dirty="0">
                <a:ln>
                  <a:noFill/>
                </a:ln>
                <a:solidFill>
                  <a:srgbClr val="F7DE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4C  ×  9 LỚP PHÒNG THỦ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48639" y="3734019"/>
            <a:ext cx="3655967" cy="1792224"/>
          </a:xfrm>
          <a:prstGeom prst="roundRect">
            <a:avLst>
              <a:gd name="adj" fmla="val 6122"/>
            </a:avLst>
          </a:prstGeom>
          <a:solidFill>
            <a:srgbClr val="1A0403">
              <a:alpha val="68000"/>
            </a:srgbClr>
          </a:solidFill>
          <a:ln w="9525">
            <a:solidFill>
              <a:srgbClr val="F1C56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86384" y="3980907"/>
            <a:ext cx="1316736" cy="1316736"/>
          </a:xfrm>
          <a:prstGeom prst="ellipse">
            <a:avLst/>
          </a:prstGeom>
          <a:solidFill>
            <a:srgbClr val="F1C560"/>
          </a:solidFill>
          <a:ln w="12700">
            <a:solidFill>
              <a:srgbClr val="F1C560"/>
            </a:solidFill>
            <a:prstDash val="solid"/>
          </a:ln>
        </p:spPr>
      </p:sp>
      <p:pic>
        <p:nvPicPr>
          <p:cNvPr id="15" name="Image 2" descr="assets/avatar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4026627"/>
            <a:ext cx="1225296" cy="1225296"/>
          </a:xfrm>
          <a:prstGeom prst="ellipse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286000" y="4044915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Phạm Văn Tới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2286000" y="4410675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1C5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2286000" y="4648419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8CF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Viettel Networks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2286000" y="4959315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F1C560"/>
          </a:solidFill>
          <a:ln w="12700">
            <a:solidFill>
              <a:srgbClr val="F1C56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286000" y="4959315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7A05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KUBESTRONAUT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4387486" y="3734019"/>
            <a:ext cx="4147131" cy="1792224"/>
          </a:xfrm>
          <a:prstGeom prst="roundRect">
            <a:avLst>
              <a:gd name="adj" fmla="val 6122"/>
            </a:avLst>
          </a:prstGeom>
          <a:solidFill>
            <a:srgbClr val="1A0403">
              <a:alpha val="68000"/>
            </a:srgbClr>
          </a:solidFill>
          <a:ln w="9525">
            <a:solidFill>
              <a:srgbClr val="F1C56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625230" y="3980907"/>
            <a:ext cx="1316736" cy="1316736"/>
          </a:xfrm>
          <a:prstGeom prst="ellipse">
            <a:avLst/>
          </a:prstGeom>
          <a:solidFill>
            <a:srgbClr val="F1C560"/>
          </a:solidFill>
          <a:ln w="12700">
            <a:solidFill>
              <a:srgbClr val="F1C560"/>
            </a:solidFill>
            <a:prstDash val="solid"/>
          </a:ln>
        </p:spPr>
      </p:sp>
      <p:pic>
        <p:nvPicPr>
          <p:cNvPr id="23" name="Image 3" descr="assets/avatar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0950" y="4026627"/>
            <a:ext cx="1225296" cy="1225296"/>
          </a:xfrm>
          <a:prstGeom prst="ellipse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124846" y="4044915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Đỗ Bảo Hoàng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6124846" y="4410675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1C5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6124846" y="4648419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8CF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Viettel Networks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6124846" y="4959315"/>
            <a:ext cx="2249424" cy="274320"/>
          </a:xfrm>
          <a:prstGeom prst="roundRect">
            <a:avLst>
              <a:gd name="adj" fmla="val 50000"/>
            </a:avLst>
          </a:prstGeom>
          <a:solidFill>
            <a:srgbClr val="F1C560"/>
          </a:solidFill>
          <a:ln w="12700">
            <a:solidFill>
              <a:srgbClr val="F1C56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124846" y="4959315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7A05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RUSSIA SECURITY MASTER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2286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k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74320"/>
            <a:ext cx="566928" cy="448056"/>
          </a:xfrm>
          <a:prstGeom prst="rect">
            <a:avLst/>
          </a:prstGeom>
        </p:spPr>
      </p:pic>
      <p:pic>
        <p:nvPicPr>
          <p:cNvPr id="3" name="Image 1" descr="assets/logo_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88" y="310896"/>
            <a:ext cx="640080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384048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713232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Mạch trình bày hôm nay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640080" y="19659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96112" y="2231136"/>
            <a:ext cx="640080" cy="640080"/>
          </a:xfrm>
          <a:prstGeom prst="ellipse">
            <a:avLst/>
          </a:prstGeom>
          <a:solidFill>
            <a:srgbClr val="7A0504"/>
          </a:solidFill>
          <a:ln/>
        </p:spPr>
      </p:sp>
      <p:sp>
        <p:nvSpPr>
          <p:cNvPr id="8" name="Text 4"/>
          <p:cNvSpPr/>
          <p:nvPr/>
        </p:nvSpPr>
        <p:spPr>
          <a:xfrm>
            <a:off x="896112" y="22311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719072" y="214884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trạng &amp; Vấn đề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719072" y="25877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Bề mặt tấn công cloud native và những con số biết nói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0" y="19659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56832" y="2231136"/>
            <a:ext cx="640080" cy="640080"/>
          </a:xfrm>
          <a:prstGeom prst="ellipse">
            <a:avLst/>
          </a:prstGeom>
          <a:solidFill>
            <a:srgbClr val="7A0504"/>
          </a:solidFill>
          <a:ln/>
        </p:spPr>
      </p:sp>
      <p:sp>
        <p:nvSpPr>
          <p:cNvPr id="13" name="Text 9"/>
          <p:cNvSpPr/>
          <p:nvPr/>
        </p:nvSpPr>
        <p:spPr>
          <a:xfrm>
            <a:off x="6656832" y="22311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79792" y="214884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Mô hình 4C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479792" y="25877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Cái nhìn tổng quan — 4C của CNCF và ánh xạ 9 lớp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392424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96112" y="3657600"/>
            <a:ext cx="640080" cy="640080"/>
          </a:xfrm>
          <a:prstGeom prst="ellipse">
            <a:avLst/>
          </a:prstGeom>
          <a:solidFill>
            <a:srgbClr val="7A0504"/>
          </a:solidFill>
          <a:ln/>
        </p:spPr>
      </p:sp>
      <p:sp>
        <p:nvSpPr>
          <p:cNvPr id="18" name="Text 14"/>
          <p:cNvSpPr/>
          <p:nvPr/>
        </p:nvSpPr>
        <p:spPr>
          <a:xfrm>
            <a:off x="896112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719072" y="357530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lý An toàn thông tin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1719072" y="401421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CIA, Least Privilege, Zero Trust, Defense in Depth…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400800" y="3392424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56832" y="3657600"/>
            <a:ext cx="640080" cy="640080"/>
          </a:xfrm>
          <a:prstGeom prst="ellipse">
            <a:avLst/>
          </a:prstGeom>
          <a:solidFill>
            <a:srgbClr val="7A0504"/>
          </a:solidFill>
          <a:ln/>
        </p:spPr>
      </p:sp>
      <p:sp>
        <p:nvSpPr>
          <p:cNvPr id="23" name="Text 19"/>
          <p:cNvSpPr/>
          <p:nvPr/>
        </p:nvSpPr>
        <p:spPr>
          <a:xfrm>
            <a:off x="6656832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7479792" y="357530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 sâu 9 lớp phòng thủ</a:t>
            </a:r>
            <a:endParaRPr lang="en-US" sz="1650" dirty="0"/>
          </a:p>
        </p:txBody>
      </p:sp>
      <p:sp>
        <p:nvSpPr>
          <p:cNvPr id="25" name="Text 21"/>
          <p:cNvSpPr/>
          <p:nvPr/>
        </p:nvSpPr>
        <p:spPr>
          <a:xfrm>
            <a:off x="7479792" y="401421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lớp: Vấn đề → Xử lý → Công cụ → Đã áp dụng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40080" y="4818888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96112" y="5084064"/>
            <a:ext cx="640080" cy="640080"/>
          </a:xfrm>
          <a:prstGeom prst="ellipse">
            <a:avLst/>
          </a:prstGeom>
          <a:solidFill>
            <a:srgbClr val="7A0504"/>
          </a:solidFill>
          <a:ln/>
        </p:spPr>
      </p:sp>
      <p:sp>
        <p:nvSpPr>
          <p:cNvPr id="28" name="Text 24"/>
          <p:cNvSpPr/>
          <p:nvPr/>
        </p:nvSpPr>
        <p:spPr>
          <a:xfrm>
            <a:off x="896112" y="50840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1719072" y="500176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 smtClean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650" dirty="0"/>
          </a:p>
        </p:txBody>
      </p:sp>
      <p:sp>
        <p:nvSpPr>
          <p:cNvPr id="30" name="Text 26"/>
          <p:cNvSpPr/>
          <p:nvPr/>
        </p:nvSpPr>
        <p:spPr>
          <a:xfrm>
            <a:off x="1719072" y="5440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 err="1" smtClean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</a:t>
            </a:r>
            <a:r>
              <a:rPr lang="en-US" sz="1150" dirty="0" smtClean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150" dirty="0" smtClean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tấn</a:t>
            </a:r>
            <a:r>
              <a:rPr lang="en-US" sz="1150" dirty="0" smtClean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150" dirty="0" smtClean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150" dirty="0" err="1" smtClean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</a:t>
            </a:r>
            <a:r>
              <a:rPr lang="en-US" sz="1150" dirty="0" smtClean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400800" y="4818888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656832" y="5084064"/>
            <a:ext cx="640080" cy="640080"/>
          </a:xfrm>
          <a:prstGeom prst="ellipse">
            <a:avLst/>
          </a:prstGeom>
          <a:solidFill>
            <a:srgbClr val="7A0504"/>
          </a:solidFill>
          <a:ln/>
        </p:spPr>
      </p:sp>
      <p:sp>
        <p:nvSpPr>
          <p:cNvPr id="33" name="Text 29"/>
          <p:cNvSpPr/>
          <p:nvPr/>
        </p:nvSpPr>
        <p:spPr>
          <a:xfrm>
            <a:off x="6656832" y="50840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7479792" y="500176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1650" dirty="0"/>
          </a:p>
        </p:txBody>
      </p:sp>
      <p:sp>
        <p:nvSpPr>
          <p:cNvPr id="35" name="Text 31"/>
          <p:cNvSpPr/>
          <p:nvPr/>
        </p:nvSpPr>
        <p:spPr>
          <a:xfrm>
            <a:off x="7479792" y="5440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Đúc kết những điều cần nhớ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502920" y="64282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KCD × OpenInfra Days Vietnam 2026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11338560" y="64282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k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274320"/>
            <a:ext cx="566928" cy="448056"/>
          </a:xfrm>
          <a:prstGeom prst="rect">
            <a:avLst/>
          </a:prstGeom>
        </p:spPr>
      </p:pic>
      <p:pic>
        <p:nvPicPr>
          <p:cNvPr id="3" name="Image 1" descr="assets/logo_o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088" y="310896"/>
            <a:ext cx="640080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13716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Shape 1"/>
          <p:cNvSpPr/>
          <p:nvPr/>
        </p:nvSpPr>
        <p:spPr>
          <a:xfrm>
            <a:off x="777240" y="3611880"/>
            <a:ext cx="2194560" cy="0"/>
          </a:xfrm>
          <a:prstGeom prst="line">
            <a:avLst/>
          </a:prstGeom>
          <a:noFill/>
          <a:ln w="31750">
            <a:solidFill>
              <a:srgbClr val="F1C56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77240" y="3767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TRẠNG &amp; VẤN ĐỀ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31520" y="41148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đã trở thành chiến trường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777240" y="51663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dirty="0">
                <a:solidFill>
                  <a:srgbClr val="D8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…và những con số cho thấy phòng thủ đang tụt lại phía sau.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k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74320"/>
            <a:ext cx="566928" cy="448056"/>
          </a:xfrm>
          <a:prstGeom prst="rect">
            <a:avLst/>
          </a:prstGeom>
        </p:spPr>
      </p:pic>
      <p:pic>
        <p:nvPicPr>
          <p:cNvPr id="3" name="Image 1" descr="assets/logo_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88" y="310896"/>
            <a:ext cx="640080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384048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TRẠNG · 1/3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713232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Bề mặt tấn công đang bùng nổ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640080" y="214884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  <a:effectLst>
            <a:outerShdw blurRad="88900" dist="25400" dir="5400000" algn="bl" rotWithShape="0">
              <a:srgbClr val="D8CEBD">
                <a:alpha val="5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77240" y="2350008"/>
            <a:ext cx="23408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+37%</a:t>
            </a:r>
            <a:endParaRPr lang="en-US" sz="4600" dirty="0"/>
          </a:p>
        </p:txBody>
      </p:sp>
      <p:sp>
        <p:nvSpPr>
          <p:cNvPr id="8" name="Shape 4"/>
          <p:cNvSpPr/>
          <p:nvPr/>
        </p:nvSpPr>
        <p:spPr>
          <a:xfrm>
            <a:off x="1627632" y="3355848"/>
            <a:ext cx="640080" cy="0"/>
          </a:xfrm>
          <a:prstGeom prst="line">
            <a:avLst/>
          </a:prstGeom>
          <a:noFill/>
          <a:ln w="25400">
            <a:solidFill>
              <a:srgbClr val="F1C56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41248" y="3447288"/>
            <a:ext cx="22128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vụ xâm nhập cloud tăng theo năm trong 2025 (tăng tốc từ 26% của 2024)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474720" y="214884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  <a:effectLst>
            <a:outerShdw blurRad="88900" dist="25400" dir="5400000" algn="bl" rotWithShape="0">
              <a:srgbClr val="D8CEBD">
                <a:alpha val="5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611880" y="2350008"/>
            <a:ext cx="23408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4600" dirty="0"/>
          </a:p>
        </p:txBody>
      </p:sp>
      <p:sp>
        <p:nvSpPr>
          <p:cNvPr id="12" name="Shape 8"/>
          <p:cNvSpPr/>
          <p:nvPr/>
        </p:nvSpPr>
        <p:spPr>
          <a:xfrm>
            <a:off x="4462272" y="3355848"/>
            <a:ext cx="640080" cy="0"/>
          </a:xfrm>
          <a:prstGeom prst="line">
            <a:avLst/>
          </a:prstGeom>
          <a:noFill/>
          <a:ln w="25400">
            <a:solidFill>
              <a:srgbClr val="F1C56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75888" y="3447288"/>
            <a:ext cx="22128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đang vận hành trên môi trường hybrid / multi-cloud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214884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  <a:effectLst>
            <a:outerShdw blurRad="88900" dist="25400" dir="5400000" algn="bl" rotWithShape="0">
              <a:srgbClr val="D8CEBD">
                <a:alpha val="5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46520" y="2350008"/>
            <a:ext cx="23408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4600" dirty="0"/>
          </a:p>
        </p:txBody>
      </p:sp>
      <p:sp>
        <p:nvSpPr>
          <p:cNvPr id="16" name="Shape 12"/>
          <p:cNvSpPr/>
          <p:nvPr/>
        </p:nvSpPr>
        <p:spPr>
          <a:xfrm>
            <a:off x="7296912" y="3355848"/>
            <a:ext cx="640080" cy="0"/>
          </a:xfrm>
          <a:prstGeom prst="line">
            <a:avLst/>
          </a:prstGeom>
          <a:noFill/>
          <a:ln w="25400">
            <a:solidFill>
              <a:srgbClr val="F1C56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10528" y="3447288"/>
            <a:ext cx="22128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số tấn công mạng toàn cầu nhắm thẳng vào hạ tầng cloud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9144000" y="214884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  <a:effectLst>
            <a:outerShdw blurRad="88900" dist="25400" dir="5400000" algn="bl" rotWithShape="0">
              <a:srgbClr val="D8CEBD">
                <a:alpha val="5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9281160" y="2350008"/>
            <a:ext cx="23408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600" dirty="0"/>
          </a:p>
        </p:txBody>
      </p:sp>
      <p:sp>
        <p:nvSpPr>
          <p:cNvPr id="20" name="Shape 16"/>
          <p:cNvSpPr/>
          <p:nvPr/>
        </p:nvSpPr>
        <p:spPr>
          <a:xfrm>
            <a:off x="10131552" y="3355848"/>
            <a:ext cx="640080" cy="0"/>
          </a:xfrm>
          <a:prstGeom prst="line">
            <a:avLst/>
          </a:prstGeom>
          <a:noFill/>
          <a:ln w="25400">
            <a:solidFill>
              <a:srgbClr val="F1C56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345168" y="3447288"/>
            <a:ext cx="22128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 rò rỉ cloud xuất phát từ danh tính (identity) bị chiếm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CrowdStrike 2026 · Fortinet 2026 · SentinelOne 2026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2920" y="64282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KCD × OpenInfra Days Vietnam 2026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338560" y="64282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k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74320"/>
            <a:ext cx="566928" cy="448056"/>
          </a:xfrm>
          <a:prstGeom prst="rect">
            <a:avLst/>
          </a:prstGeom>
        </p:spPr>
      </p:pic>
      <p:pic>
        <p:nvPicPr>
          <p:cNvPr id="3" name="Image 1" descr="assets/logo_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88" y="310896"/>
            <a:ext cx="640080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384048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TRẠNG · 2/3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713232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Nỗi đau đo được trên Kubernetes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640080" y="214884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  <a:effectLst>
            <a:outerShdw blurRad="88900" dist="25400" dir="5400000" algn="bl" rotWithShape="0">
              <a:srgbClr val="D8CEBD">
                <a:alpha val="5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77240" y="2350008"/>
            <a:ext cx="23408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4600" dirty="0"/>
          </a:p>
        </p:txBody>
      </p:sp>
      <p:sp>
        <p:nvSpPr>
          <p:cNvPr id="8" name="Shape 4"/>
          <p:cNvSpPr/>
          <p:nvPr/>
        </p:nvSpPr>
        <p:spPr>
          <a:xfrm>
            <a:off x="1627632" y="3355848"/>
            <a:ext cx="640080" cy="0"/>
          </a:xfrm>
          <a:prstGeom prst="line">
            <a:avLst/>
          </a:prstGeom>
          <a:noFill/>
          <a:ln w="25400">
            <a:solidFill>
              <a:srgbClr val="F1C56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41248" y="3447288"/>
            <a:ext cx="22128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từng gặp ÍT NHẤT 1 sự cố bảo mật K8s trong năm qua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474720" y="214884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  <a:effectLst>
            <a:outerShdw blurRad="88900" dist="25400" dir="5400000" algn="bl" rotWithShape="0">
              <a:srgbClr val="D8CEBD">
                <a:alpha val="5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611880" y="2350008"/>
            <a:ext cx="23408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4600" dirty="0"/>
          </a:p>
        </p:txBody>
      </p:sp>
      <p:sp>
        <p:nvSpPr>
          <p:cNvPr id="12" name="Shape 8"/>
          <p:cNvSpPr/>
          <p:nvPr/>
        </p:nvSpPr>
        <p:spPr>
          <a:xfrm>
            <a:off x="4462272" y="3355848"/>
            <a:ext cx="640080" cy="0"/>
          </a:xfrm>
          <a:prstGeom prst="line">
            <a:avLst/>
          </a:prstGeom>
          <a:noFill/>
          <a:ln w="25400">
            <a:solidFill>
              <a:srgbClr val="F1C56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75888" y="3447288"/>
            <a:ext cx="22128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cố K8s do MISCONFIGURATION — không phải zero-day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214884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  <a:effectLst>
            <a:outerShdw blurRad="88900" dist="25400" dir="5400000" algn="bl" rotWithShape="0">
              <a:srgbClr val="D8CEBD">
                <a:alpha val="5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46520" y="2350008"/>
            <a:ext cx="23408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4600" dirty="0"/>
          </a:p>
        </p:txBody>
      </p:sp>
      <p:sp>
        <p:nvSpPr>
          <p:cNvPr id="16" name="Shape 12"/>
          <p:cNvSpPr/>
          <p:nvPr/>
        </p:nvSpPr>
        <p:spPr>
          <a:xfrm>
            <a:off x="7296912" y="3355848"/>
            <a:ext cx="640080" cy="0"/>
          </a:xfrm>
          <a:prstGeom prst="line">
            <a:avLst/>
          </a:prstGeom>
          <a:noFill/>
          <a:ln w="25400">
            <a:solidFill>
              <a:srgbClr val="F1C56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10528" y="3447288"/>
            <a:ext cx="22128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doanh thu / khách hàng vì sự cố container hoặc K8s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9144000" y="214884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  <a:effectLst>
            <a:outerShdw blurRad="88900" dist="25400" dir="5400000" algn="bl" rotWithShape="0">
              <a:srgbClr val="D8CEBD">
                <a:alpha val="5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9281160" y="2350008"/>
            <a:ext cx="23408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4600" dirty="0"/>
          </a:p>
        </p:txBody>
      </p:sp>
      <p:sp>
        <p:nvSpPr>
          <p:cNvPr id="20" name="Shape 16"/>
          <p:cNvSpPr/>
          <p:nvPr/>
        </p:nvSpPr>
        <p:spPr>
          <a:xfrm>
            <a:off x="10131552" y="3355848"/>
            <a:ext cx="640080" cy="0"/>
          </a:xfrm>
          <a:prstGeom prst="line">
            <a:avLst/>
          </a:prstGeom>
          <a:noFill/>
          <a:ln w="25400">
            <a:solidFill>
              <a:srgbClr val="F1C56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345168" y="3447288"/>
            <a:ext cx="22128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HOÃN hoặc làm chậm triển khai vì lo ngại bảo mật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Red Hat State of Kubernetes Security · Gartner (tới 2026, 99% sự cố cloud là lỗi phía khách hàng)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2920" y="64282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KCD × OpenInfra Days Vietnam 2026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338560" y="64282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k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74320"/>
            <a:ext cx="566928" cy="448056"/>
          </a:xfrm>
          <a:prstGeom prst="rect">
            <a:avLst/>
          </a:prstGeom>
        </p:spPr>
      </p:pic>
      <p:pic>
        <p:nvPicPr>
          <p:cNvPr id="3" name="Image 1" descr="assets/logo_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88" y="310896"/>
            <a:ext cx="640080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384048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TRẠNG · 3/3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713232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cung ứng — mặt trận mới &amp; nguy hiểm nhất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640080" y="1965960"/>
            <a:ext cx="5257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68680" y="2057400"/>
            <a:ext cx="22860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454,600+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2971800" y="2075688"/>
            <a:ext cx="2743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mã độc mã nguồn mở MỚI trong 2025 — tăng 75% YoY; tích lũy đã vượt 1,23 triệu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263640" y="1965960"/>
            <a:ext cx="5257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92240" y="2057400"/>
            <a:ext cx="22860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→ 30%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8595360" y="2075688"/>
            <a:ext cx="2743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 lệ vụ rò rỉ có liên quan bên thứ ba — tăng GẤP ĐÔI chỉ trong một năm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648456"/>
            <a:ext cx="5257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68680" y="3739896"/>
            <a:ext cx="22860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$4.91M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2971800" y="3758184"/>
            <a:ext cx="2743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trung bình một vụ tấn công chuỗi cung ứng · 267 ngày mới phát hiện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63640" y="3648456"/>
            <a:ext cx="5257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2240" y="3739896"/>
            <a:ext cx="22860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8595360" y="3758184"/>
            <a:ext cx="2743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production chứa lỗ hổng critical/high do dùng lại base image cũ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525780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7A0504"/>
          </a:solidFill>
          <a:ln/>
        </p:spPr>
      </p:sp>
      <p:pic>
        <p:nvPicPr>
          <p:cNvPr id="19" name="Image 2" descr="assets/icons/icon-err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9496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525780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chứng kiến Shai-Hulud — worm tự nhân bản đầu tiên trên npm — biến một lần update dependency thành sự kiện phát tán mã độc hàng loạt.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Sonatype 2026 · Verizon DBIR 2025 · IBM Cost of a Data Breach 2025 · Sysdig · ReversingLabs 2026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02920" y="64282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KCD × OpenInfra Days Vietnam 2026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338560" y="64282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k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74320"/>
            <a:ext cx="566928" cy="448056"/>
          </a:xfrm>
          <a:prstGeom prst="rect">
            <a:avLst/>
          </a:prstGeom>
        </p:spPr>
      </p:pic>
      <p:pic>
        <p:nvPicPr>
          <p:cNvPr id="3" name="Image 1" descr="assets/logo_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88" y="310896"/>
            <a:ext cx="640080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384048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CỐT LÕI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713232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thiếu công cụ — thiếu một mô hình xuyên suốt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640080" y="20574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14400" y="2350008"/>
            <a:ext cx="777240" cy="777240"/>
          </a:xfrm>
          <a:prstGeom prst="ellipse">
            <a:avLst/>
          </a:prstGeom>
          <a:solidFill>
            <a:srgbClr val="F6ECD9"/>
          </a:solidFill>
          <a:ln/>
        </p:spPr>
      </p:sp>
      <p:pic>
        <p:nvPicPr>
          <p:cNvPr id="8" name="Image 2" descr="assets/icons/icon-err_bur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2514600"/>
            <a:ext cx="448056" cy="4480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74520" y="23317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thủ rời rạc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1874520" y="283464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tư nhiều tool nhưng không có khung chung → mỗi lớp một kiểu, không ai nhìn toàn cảnh.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6263640" y="20574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537960" y="2350008"/>
            <a:ext cx="777240" cy="777240"/>
          </a:xfrm>
          <a:prstGeom prst="ellipse">
            <a:avLst/>
          </a:prstGeom>
          <a:solidFill>
            <a:srgbClr val="F6ECD9"/>
          </a:solidFill>
          <a:ln/>
        </p:spPr>
      </p:sp>
      <p:pic>
        <p:nvPicPr>
          <p:cNvPr id="13" name="Image 3" descr="assets/icons/icon-l5_bur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2514600"/>
            <a:ext cx="448056" cy="4480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0" y="23317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 hổng giữa các lớp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7498080" y="283464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chết người nằm ở khoảng hở GIỮA các lớp — nơi không đội nào nhận trách nhiệm.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40080" y="41148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914400" y="4407408"/>
            <a:ext cx="777240" cy="777240"/>
          </a:xfrm>
          <a:prstGeom prst="ellipse">
            <a:avLst/>
          </a:prstGeom>
          <a:solidFill>
            <a:srgbClr val="F6ECD9"/>
          </a:solidFill>
          <a:ln/>
        </p:spPr>
      </p:sp>
      <p:pic>
        <p:nvPicPr>
          <p:cNvPr id="18" name="Image 4" descr="assets/icons/icon-l3_bur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" y="4572000"/>
            <a:ext cx="448056" cy="4480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874520" y="43891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không an toàn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1874520" y="489204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lưu Secret base64, RBAC rộng, thiếu NetworkPolicy — K8s không an toàn sẵn.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263640" y="41148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537960" y="4407408"/>
            <a:ext cx="777240" cy="777240"/>
          </a:xfrm>
          <a:prstGeom prst="ellipse">
            <a:avLst/>
          </a:prstGeom>
          <a:solidFill>
            <a:srgbClr val="F6ECD9"/>
          </a:solidFill>
          <a:ln/>
        </p:spPr>
      </p:sp>
      <p:pic>
        <p:nvPicPr>
          <p:cNvPr id="23" name="Image 5" descr="assets/icons/icon-l9_bur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2552" y="4572000"/>
            <a:ext cx="448056" cy="44805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498080" y="43891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bị coi là rào cản</a:t>
            </a:r>
            <a:endParaRPr lang="en-US" sz="1700" dirty="0"/>
          </a:p>
        </p:txBody>
      </p:sp>
      <p:sp>
        <p:nvSpPr>
          <p:cNvPr id="25" name="Text 17"/>
          <p:cNvSpPr/>
          <p:nvPr/>
        </p:nvSpPr>
        <p:spPr>
          <a:xfrm>
            <a:off x="7498080" y="489204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team hoãn deploy vì lo ngại → bảo mật thành lực cản thay vì lợi thế cạnh tranh.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502920" y="64282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KCD × OpenInfra Days Vietnam 2026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338560" y="64282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k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274320"/>
            <a:ext cx="566928" cy="448056"/>
          </a:xfrm>
          <a:prstGeom prst="rect">
            <a:avLst/>
          </a:prstGeom>
        </p:spPr>
      </p:pic>
      <p:pic>
        <p:nvPicPr>
          <p:cNvPr id="3" name="Image 1" descr="assets/logo_o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088" y="310896"/>
            <a:ext cx="640080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13716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Shape 1"/>
          <p:cNvSpPr/>
          <p:nvPr/>
        </p:nvSpPr>
        <p:spPr>
          <a:xfrm>
            <a:off x="777240" y="3611880"/>
            <a:ext cx="2194560" cy="0"/>
          </a:xfrm>
          <a:prstGeom prst="line">
            <a:avLst/>
          </a:prstGeom>
          <a:noFill/>
          <a:ln w="31750">
            <a:solidFill>
              <a:srgbClr val="F1C56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77240" y="3767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MÔ HÌNH 4C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31520" y="41148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4C của CNCF làm khung xương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777240" y="51663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dirty="0">
                <a:solidFill>
                  <a:srgbClr val="D8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…triển khai qua 9 lớp phòng thủ.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k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74320"/>
            <a:ext cx="566928" cy="448056"/>
          </a:xfrm>
          <a:prstGeom prst="rect">
            <a:avLst/>
          </a:prstGeom>
        </p:spPr>
      </p:pic>
      <p:pic>
        <p:nvPicPr>
          <p:cNvPr id="3" name="Image 1" descr="assets/logo_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88" y="310896"/>
            <a:ext cx="640080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384048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713232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 — bốn vòng bảo mật lồng nhau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914400" y="1828800"/>
            <a:ext cx="4297680" cy="4297680"/>
          </a:xfrm>
          <a:prstGeom prst="ellipse">
            <a:avLst/>
          </a:prstGeom>
          <a:solidFill>
            <a:srgbClr val="7A05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440180" y="2354580"/>
            <a:ext cx="3246120" cy="3246120"/>
          </a:xfrm>
          <a:prstGeom prst="ellipse">
            <a:avLst/>
          </a:prstGeom>
          <a:solidFill>
            <a:srgbClr val="9A32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965960" y="2880360"/>
            <a:ext cx="2194560" cy="2194560"/>
          </a:xfrm>
          <a:prstGeom prst="ellipse">
            <a:avLst/>
          </a:prstGeom>
          <a:solidFill>
            <a:srgbClr val="C06A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468880" y="3383280"/>
            <a:ext cx="1188720" cy="1188720"/>
          </a:xfrm>
          <a:prstGeom prst="ellipse">
            <a:avLst/>
          </a:prstGeom>
          <a:solidFill>
            <a:srgbClr val="F1C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057400" y="18928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2057400" y="24048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7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057400" y="29352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468880" y="381304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0" y="1737360"/>
            <a:ext cx="5669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44768" y="1938528"/>
            <a:ext cx="457200" cy="457200"/>
          </a:xfrm>
          <a:prstGeom prst="ellipse">
            <a:avLst/>
          </a:prstGeom>
          <a:solidFill>
            <a:srgbClr val="7A0504"/>
          </a:solidFill>
          <a:ln/>
        </p:spPr>
      </p:sp>
      <p:sp>
        <p:nvSpPr>
          <p:cNvPr id="16" name="Text 12"/>
          <p:cNvSpPr/>
          <p:nvPr/>
        </p:nvSpPr>
        <p:spPr>
          <a:xfrm>
            <a:off x="6144768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784848" y="182880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784848" y="2139696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hạ tầng: IAM, mạng, KMS. Cloud thủng thì mọi lớp trong vô nghĩa.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943600" y="2715768"/>
            <a:ext cx="5669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44768" y="2916936"/>
            <a:ext cx="457200" cy="457200"/>
          </a:xfrm>
          <a:prstGeom prst="ellipse">
            <a:avLst/>
          </a:prstGeom>
          <a:solidFill>
            <a:srgbClr val="9A3230"/>
          </a:solidFill>
          <a:ln/>
        </p:spPr>
      </p:sp>
      <p:sp>
        <p:nvSpPr>
          <p:cNvPr id="21" name="Text 17"/>
          <p:cNvSpPr/>
          <p:nvPr/>
        </p:nvSpPr>
        <p:spPr>
          <a:xfrm>
            <a:off x="6144768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784848" y="280720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784848" y="3118104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Kubernetes: control plane, etcd, RBAC, network, admission.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943600" y="3694176"/>
            <a:ext cx="5669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44768" y="3895344"/>
            <a:ext cx="457200" cy="457200"/>
          </a:xfrm>
          <a:prstGeom prst="ellipse">
            <a:avLst/>
          </a:prstGeom>
          <a:solidFill>
            <a:srgbClr val="C06A50"/>
          </a:solidFill>
          <a:ln/>
        </p:spPr>
      </p:sp>
      <p:sp>
        <p:nvSpPr>
          <p:cNvPr id="26" name="Text 22"/>
          <p:cNvSpPr/>
          <p:nvPr/>
        </p:nvSpPr>
        <p:spPr>
          <a:xfrm>
            <a:off x="6144768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6784848" y="378561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6784848" y="4096512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runtime: scan, non-root, seccomp, giới hạn quyền.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943600" y="4672584"/>
            <a:ext cx="5669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144768" y="4873752"/>
            <a:ext cx="457200" cy="457200"/>
          </a:xfrm>
          <a:prstGeom prst="ellipse">
            <a:avLst/>
          </a:prstGeom>
          <a:solidFill>
            <a:srgbClr val="B08A2E"/>
          </a:solidFill>
          <a:ln/>
        </p:spPr>
      </p:sp>
      <p:sp>
        <p:nvSpPr>
          <p:cNvPr id="31" name="Text 27"/>
          <p:cNvSpPr/>
          <p:nvPr/>
        </p:nvSpPr>
        <p:spPr>
          <a:xfrm>
            <a:off x="6144768" y="4873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6784848" y="476402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6784848" y="507492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bên trong: dependency, SAST/DAST, authz nghiệp vụ.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943600" y="56967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vòng chỉ an toàn khi vòng ngoài an toàn.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502920" y="64282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KCD × OpenInfra Days Vietnam 2026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11338560" y="64282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k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74320"/>
            <a:ext cx="566928" cy="448056"/>
          </a:xfrm>
          <a:prstGeom prst="rect">
            <a:avLst/>
          </a:prstGeom>
        </p:spPr>
      </p:pic>
      <p:pic>
        <p:nvPicPr>
          <p:cNvPr id="3" name="Image 1" descr="assets/logo_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88" y="310896"/>
            <a:ext cx="640080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384048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713232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 là cách nghĩ · 9 lớp là cách làm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66928" y="1920240"/>
            <a:ext cx="2697480" cy="566928"/>
          </a:xfrm>
          <a:prstGeom prst="roundRect">
            <a:avLst>
              <a:gd name="adj" fmla="val 11290"/>
            </a:avLst>
          </a:prstGeom>
          <a:solidFill>
            <a:srgbClr val="7A0504"/>
          </a:solidFill>
          <a:ln/>
        </p:spPr>
      </p:sp>
      <p:sp>
        <p:nvSpPr>
          <p:cNvPr id="7" name="Text 3"/>
          <p:cNvSpPr/>
          <p:nvPr/>
        </p:nvSpPr>
        <p:spPr>
          <a:xfrm>
            <a:off x="566928" y="192024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INFRA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66928" y="2651760"/>
            <a:ext cx="26974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13232" y="2834640"/>
            <a:ext cx="566928" cy="475488"/>
          </a:xfrm>
          <a:prstGeom prst="roundRect">
            <a:avLst>
              <a:gd name="adj" fmla="val 9615"/>
            </a:avLst>
          </a:prstGeom>
          <a:solidFill>
            <a:srgbClr val="7A0504"/>
          </a:solidFill>
          <a:ln/>
        </p:spPr>
      </p:sp>
      <p:sp>
        <p:nvSpPr>
          <p:cNvPr id="10" name="Text 6"/>
          <p:cNvSpPr/>
          <p:nvPr/>
        </p:nvSpPr>
        <p:spPr>
          <a:xfrm>
            <a:off x="713232" y="283464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89888" y="265176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Infrastructure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66928" y="3639312"/>
            <a:ext cx="26974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3232" y="3822192"/>
            <a:ext cx="566928" cy="475488"/>
          </a:xfrm>
          <a:prstGeom prst="roundRect">
            <a:avLst>
              <a:gd name="adj" fmla="val 9615"/>
            </a:avLst>
          </a:prstGeom>
          <a:solidFill>
            <a:srgbClr val="7A0504"/>
          </a:solidFill>
          <a:ln/>
        </p:spPr>
      </p:sp>
      <p:sp>
        <p:nvSpPr>
          <p:cNvPr id="14" name="Text 10"/>
          <p:cNvSpPr/>
          <p:nvPr/>
        </p:nvSpPr>
        <p:spPr>
          <a:xfrm>
            <a:off x="713232" y="3822192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389888" y="3639312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&amp; Node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29000" y="1920240"/>
            <a:ext cx="2697480" cy="566928"/>
          </a:xfrm>
          <a:prstGeom prst="roundRect">
            <a:avLst>
              <a:gd name="adj" fmla="val 11290"/>
            </a:avLst>
          </a:prstGeom>
          <a:solidFill>
            <a:srgbClr val="9A3230"/>
          </a:solidFill>
          <a:ln/>
        </p:spPr>
      </p:sp>
      <p:sp>
        <p:nvSpPr>
          <p:cNvPr id="17" name="Text 13"/>
          <p:cNvSpPr/>
          <p:nvPr/>
        </p:nvSpPr>
        <p:spPr>
          <a:xfrm>
            <a:off x="3429000" y="192024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3429000" y="2651760"/>
            <a:ext cx="26974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575304" y="2834640"/>
            <a:ext cx="566928" cy="475488"/>
          </a:xfrm>
          <a:prstGeom prst="roundRect">
            <a:avLst>
              <a:gd name="adj" fmla="val 9615"/>
            </a:avLst>
          </a:prstGeom>
          <a:solidFill>
            <a:srgbClr val="9A3230"/>
          </a:solidFill>
          <a:ln/>
        </p:spPr>
      </p:sp>
      <p:sp>
        <p:nvSpPr>
          <p:cNvPr id="20" name="Text 16"/>
          <p:cNvSpPr/>
          <p:nvPr/>
        </p:nvSpPr>
        <p:spPr>
          <a:xfrm>
            <a:off x="3575304" y="283464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251960" y="265176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&amp; etcd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3429000" y="3639312"/>
            <a:ext cx="26974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575304" y="3822192"/>
            <a:ext cx="566928" cy="475488"/>
          </a:xfrm>
          <a:prstGeom prst="roundRect">
            <a:avLst>
              <a:gd name="adj" fmla="val 9615"/>
            </a:avLst>
          </a:prstGeom>
          <a:solidFill>
            <a:srgbClr val="9A3230"/>
          </a:solidFill>
          <a:ln/>
        </p:spPr>
      </p:sp>
      <p:sp>
        <p:nvSpPr>
          <p:cNvPr id="24" name="Text 20"/>
          <p:cNvSpPr/>
          <p:nvPr/>
        </p:nvSpPr>
        <p:spPr>
          <a:xfrm>
            <a:off x="3575304" y="3822192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4251960" y="3639312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3429000" y="4626864"/>
            <a:ext cx="26974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575304" y="4809744"/>
            <a:ext cx="566928" cy="475488"/>
          </a:xfrm>
          <a:prstGeom prst="roundRect">
            <a:avLst>
              <a:gd name="adj" fmla="val 9615"/>
            </a:avLst>
          </a:prstGeom>
          <a:solidFill>
            <a:srgbClr val="9A3230"/>
          </a:solidFill>
          <a:ln/>
        </p:spPr>
      </p:sp>
      <p:sp>
        <p:nvSpPr>
          <p:cNvPr id="28" name="Text 24"/>
          <p:cNvSpPr/>
          <p:nvPr/>
        </p:nvSpPr>
        <p:spPr>
          <a:xfrm>
            <a:off x="3575304" y="4809744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4251960" y="4626864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Manifests &amp; Access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291072" y="1920240"/>
            <a:ext cx="2697480" cy="566928"/>
          </a:xfrm>
          <a:prstGeom prst="roundRect">
            <a:avLst>
              <a:gd name="adj" fmla="val 11290"/>
            </a:avLst>
          </a:prstGeom>
          <a:solidFill>
            <a:srgbClr val="C06A50"/>
          </a:solidFill>
          <a:ln/>
        </p:spPr>
      </p:sp>
      <p:sp>
        <p:nvSpPr>
          <p:cNvPr id="31" name="Text 27"/>
          <p:cNvSpPr/>
          <p:nvPr/>
        </p:nvSpPr>
        <p:spPr>
          <a:xfrm>
            <a:off x="6291072" y="192024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291072" y="2651760"/>
            <a:ext cx="26974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437376" y="2834640"/>
            <a:ext cx="566928" cy="475488"/>
          </a:xfrm>
          <a:prstGeom prst="roundRect">
            <a:avLst>
              <a:gd name="adj" fmla="val 9615"/>
            </a:avLst>
          </a:prstGeom>
          <a:solidFill>
            <a:srgbClr val="C06A50"/>
          </a:solidFill>
          <a:ln/>
        </p:spPr>
      </p:sp>
      <p:sp>
        <p:nvSpPr>
          <p:cNvPr id="34" name="Text 30"/>
          <p:cNvSpPr/>
          <p:nvPr/>
        </p:nvSpPr>
        <p:spPr>
          <a:xfrm>
            <a:off x="6437376" y="283464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7114032" y="265176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&amp; Image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6291072" y="3639312"/>
            <a:ext cx="26974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437376" y="3822192"/>
            <a:ext cx="566928" cy="475488"/>
          </a:xfrm>
          <a:prstGeom prst="roundRect">
            <a:avLst>
              <a:gd name="adj" fmla="val 9615"/>
            </a:avLst>
          </a:prstGeom>
          <a:solidFill>
            <a:srgbClr val="C06A50"/>
          </a:solidFill>
          <a:ln/>
        </p:spPr>
      </p:sp>
      <p:sp>
        <p:nvSpPr>
          <p:cNvPr id="38" name="Text 34"/>
          <p:cNvSpPr/>
          <p:nvPr/>
        </p:nvSpPr>
        <p:spPr>
          <a:xfrm>
            <a:off x="6437376" y="3822192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500" dirty="0"/>
          </a:p>
        </p:txBody>
      </p:sp>
      <p:sp>
        <p:nvSpPr>
          <p:cNvPr id="39" name="Text 35"/>
          <p:cNvSpPr/>
          <p:nvPr/>
        </p:nvSpPr>
        <p:spPr>
          <a:xfrm>
            <a:off x="7114032" y="3639312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detection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9153144" y="1920240"/>
            <a:ext cx="2697480" cy="566928"/>
          </a:xfrm>
          <a:prstGeom prst="roundRect">
            <a:avLst>
              <a:gd name="adj" fmla="val 11290"/>
            </a:avLst>
          </a:prstGeom>
          <a:solidFill>
            <a:srgbClr val="B08A2E"/>
          </a:solidFill>
          <a:ln/>
        </p:spPr>
      </p:sp>
      <p:sp>
        <p:nvSpPr>
          <p:cNvPr id="41" name="Text 37"/>
          <p:cNvSpPr/>
          <p:nvPr/>
        </p:nvSpPr>
        <p:spPr>
          <a:xfrm>
            <a:off x="9153144" y="192024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/ GOV</a:t>
            </a:r>
            <a:endParaRPr lang="en-US" sz="1250" dirty="0"/>
          </a:p>
        </p:txBody>
      </p:sp>
      <p:sp>
        <p:nvSpPr>
          <p:cNvPr id="42" name="Shape 38"/>
          <p:cNvSpPr/>
          <p:nvPr/>
        </p:nvSpPr>
        <p:spPr>
          <a:xfrm>
            <a:off x="9153144" y="2651760"/>
            <a:ext cx="26974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9299448" y="2834640"/>
            <a:ext cx="566928" cy="475488"/>
          </a:xfrm>
          <a:prstGeom prst="roundRect">
            <a:avLst>
              <a:gd name="adj" fmla="val 9615"/>
            </a:avLst>
          </a:prstGeom>
          <a:solidFill>
            <a:srgbClr val="B08A2E"/>
          </a:solidFill>
          <a:ln/>
        </p:spPr>
      </p:sp>
      <p:sp>
        <p:nvSpPr>
          <p:cNvPr id="44" name="Text 40"/>
          <p:cNvSpPr/>
          <p:nvPr/>
        </p:nvSpPr>
        <p:spPr>
          <a:xfrm>
            <a:off x="9299448" y="283464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L8</a:t>
            </a:r>
            <a:endParaRPr lang="en-US" sz="1500" dirty="0"/>
          </a:p>
        </p:txBody>
      </p:sp>
      <p:sp>
        <p:nvSpPr>
          <p:cNvPr id="45" name="Text 41"/>
          <p:cNvSpPr/>
          <p:nvPr/>
        </p:nvSpPr>
        <p:spPr>
          <a:xfrm>
            <a:off x="9976104" y="265176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Application</a:t>
            </a:r>
            <a:endParaRPr lang="en-US" sz="1150" dirty="0"/>
          </a:p>
        </p:txBody>
      </p:sp>
      <p:sp>
        <p:nvSpPr>
          <p:cNvPr id="46" name="Shape 42"/>
          <p:cNvSpPr/>
          <p:nvPr/>
        </p:nvSpPr>
        <p:spPr>
          <a:xfrm>
            <a:off x="9153144" y="3639312"/>
            <a:ext cx="26974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9299448" y="3822192"/>
            <a:ext cx="566928" cy="475488"/>
          </a:xfrm>
          <a:prstGeom prst="roundRect">
            <a:avLst>
              <a:gd name="adj" fmla="val 9615"/>
            </a:avLst>
          </a:prstGeom>
          <a:solidFill>
            <a:srgbClr val="B08A2E"/>
          </a:solidFill>
          <a:ln/>
        </p:spPr>
      </p:sp>
      <p:sp>
        <p:nvSpPr>
          <p:cNvPr id="48" name="Text 44"/>
          <p:cNvSpPr/>
          <p:nvPr/>
        </p:nvSpPr>
        <p:spPr>
          <a:xfrm>
            <a:off x="9299448" y="3822192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L9</a:t>
            </a:r>
            <a:endParaRPr lang="en-US" sz="1500" dirty="0"/>
          </a:p>
        </p:txBody>
      </p:sp>
      <p:sp>
        <p:nvSpPr>
          <p:cNvPr id="49" name="Text 45"/>
          <p:cNvSpPr/>
          <p:nvPr/>
        </p:nvSpPr>
        <p:spPr>
          <a:xfrm>
            <a:off x="9976104" y="3639312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Human</a:t>
            </a:r>
            <a:endParaRPr lang="en-US" sz="1150" dirty="0"/>
          </a:p>
        </p:txBody>
      </p:sp>
      <p:sp>
        <p:nvSpPr>
          <p:cNvPr id="50" name="Text 46"/>
          <p:cNvSpPr/>
          <p:nvPr/>
        </p:nvSpPr>
        <p:spPr>
          <a:xfrm>
            <a:off x="566928" y="5897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Layer 7 (Observability &amp; Runtime detection) là lớp cross-cutting, phủ cả Cluster lẫn Container.</a:t>
            </a:r>
            <a:endParaRPr lang="en-US" sz="1100" dirty="0"/>
          </a:p>
        </p:txBody>
      </p:sp>
      <p:sp>
        <p:nvSpPr>
          <p:cNvPr id="51" name="Text 47"/>
          <p:cNvSpPr/>
          <p:nvPr/>
        </p:nvSpPr>
        <p:spPr>
          <a:xfrm>
            <a:off x="502920" y="64282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KCD × OpenInfra Days Vietnam 2026</a:t>
            </a:r>
            <a:endParaRPr lang="en-US" sz="1000" dirty="0"/>
          </a:p>
        </p:txBody>
      </p:sp>
      <p:sp>
        <p:nvSpPr>
          <p:cNvPr id="52" name="Text 48"/>
          <p:cNvSpPr/>
          <p:nvPr/>
        </p:nvSpPr>
        <p:spPr>
          <a:xfrm>
            <a:off x="11338560" y="64282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k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274320"/>
            <a:ext cx="566928" cy="448056"/>
          </a:xfrm>
          <a:prstGeom prst="rect">
            <a:avLst/>
          </a:prstGeom>
        </p:spPr>
      </p:pic>
      <p:pic>
        <p:nvPicPr>
          <p:cNvPr id="3" name="Image 1" descr="assets/logo_o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088" y="310896"/>
            <a:ext cx="640080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13716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Shape 1"/>
          <p:cNvSpPr/>
          <p:nvPr/>
        </p:nvSpPr>
        <p:spPr>
          <a:xfrm>
            <a:off x="777240" y="3611880"/>
            <a:ext cx="2194560" cy="0"/>
          </a:xfrm>
          <a:prstGeom prst="line">
            <a:avLst/>
          </a:prstGeom>
          <a:noFill/>
          <a:ln w="31750">
            <a:solidFill>
              <a:srgbClr val="F1C56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77240" y="3767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 SÂU 9 LỚP PHÒNG THỦ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31520" y="41148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thường gặp → Hướng xử lý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777240" y="51663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dirty="0">
                <a:solidFill>
                  <a:srgbClr val="D8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lớp: Vấn đề → Xử lý → Công cụ → Đã áp dụng.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unpacked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74320"/>
            <a:ext cx="566928" cy="448056"/>
          </a:xfrm>
          <a:prstGeom prst="rect">
            <a:avLst/>
          </a:prstGeom>
        </p:spPr>
      </p:pic>
      <p:pic>
        <p:nvPicPr>
          <p:cNvPr id="4" name="Image 1" descr="unpacked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88" y="310896"/>
            <a:ext cx="640080" cy="38404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365760"/>
            <a:ext cx="749808" cy="7498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57784"/>
            <a:ext cx="365760" cy="3657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444752" y="3840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ĐI SÂU 9 LỚP  ·  C1 — CLOUD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3"/>
          <p:cNvSpPr/>
          <p:nvPr/>
        </p:nvSpPr>
        <p:spPr>
          <a:xfrm>
            <a:off x="1417320" y="6583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E1A1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Node — nền móng của mọi lớp trên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02920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02920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1042416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042416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1581912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581912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2121408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121408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2660904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660904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3200400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0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3739896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739896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4279392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279392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L8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4818888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18888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L9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502920" y="1682496"/>
            <a:ext cx="11228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6E66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Thủng ở đây thì mọi lớp trong vô nghĩa: chiếm cloud IAM là tạo node, mở firewall, đọc snapshot — không cần đụng tới Kubernetes.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502920" y="2176272"/>
            <a:ext cx="5413248" cy="402336"/>
          </a:xfrm>
          <a:prstGeom prst="roundRect">
            <a:avLst>
              <a:gd name="adj" fmla="val 18182"/>
            </a:avLst>
          </a:prstGeom>
          <a:solidFill>
            <a:srgbClr val="1E1A18"/>
          </a:solidFill>
          <a:ln w="12700">
            <a:solidFill>
              <a:srgbClr val="1E1A18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286000"/>
            <a:ext cx="182880" cy="1828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41832" y="217627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60" normalizeH="0" baseline="0" noProof="0" dirty="0">
                <a:ln>
                  <a:noFill/>
                </a:ln>
                <a:solidFill>
                  <a:srgbClr val="F1C5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L1     CLOUD / INFRASTRUCTURE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502920" y="2706624"/>
            <a:ext cx="5413248" cy="1682496"/>
          </a:xfrm>
          <a:prstGeom prst="roundRect">
            <a:avLst>
              <a:gd name="adj" fmla="val 4348"/>
            </a:avLst>
          </a:prstGeom>
          <a:solidFill>
            <a:srgbClr val="FCF0EC"/>
          </a:solidFill>
          <a:ln w="12700">
            <a:solidFill>
              <a:srgbClr val="F0D9D2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2825496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14984" y="279806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LỖI PHỔ BIẾN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685800" y="3145536"/>
            <a:ext cx="5029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IAM quá rộng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cấp thừa quyền, admin không bật MFA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Không audit log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mất dấu vết khi điều tra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Không mã hóa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disk, snapshot, backup để trần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Drift không kiểm soát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IaC lệch khỏi hạ tầng thật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502920" y="4517136"/>
            <a:ext cx="5413248" cy="1700784"/>
          </a:xfrm>
          <a:prstGeom prst="roundRect">
            <a:avLst>
              <a:gd name="adj" fmla="val 4301"/>
            </a:avLst>
          </a:prstGeom>
          <a:solidFill>
            <a:srgbClr val="EEF5EF"/>
          </a:solidFill>
          <a:ln w="12700">
            <a:solidFill>
              <a:srgbClr val="D6E5DA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" y="4636008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4984" y="46085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HƯỚNG XỬ LÝ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685800" y="4956048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+ MFA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cho toàn bộ cloud IAM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Mã hóa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volume, snapshot, object storage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bằng IaC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phát hiện và chặn drift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lưu ở nơi khó bị sửa/xóa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6272784" y="2176272"/>
            <a:ext cx="5413248" cy="402336"/>
          </a:xfrm>
          <a:prstGeom prst="roundRect">
            <a:avLst>
              <a:gd name="adj" fmla="val 18182"/>
            </a:avLst>
          </a:prstGeom>
          <a:solidFill>
            <a:srgbClr val="1E1A18"/>
          </a:solidFill>
          <a:ln w="12700">
            <a:solidFill>
              <a:srgbClr val="1E1A18"/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8232" y="2286000"/>
            <a:ext cx="182880" cy="1828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711696" y="217627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60" normalizeH="0" baseline="0" noProof="0" dirty="0">
                <a:ln>
                  <a:noFill/>
                </a:ln>
                <a:solidFill>
                  <a:srgbClr val="F1C5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L2     OS &amp; NODE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6272784" y="2706624"/>
            <a:ext cx="5413248" cy="1682496"/>
          </a:xfrm>
          <a:prstGeom prst="roundRect">
            <a:avLst>
              <a:gd name="adj" fmla="val 4348"/>
            </a:avLst>
          </a:prstGeom>
          <a:solidFill>
            <a:srgbClr val="FCF0EC"/>
          </a:solidFill>
          <a:ln w="12700">
            <a:solidFill>
              <a:srgbClr val="F0D9D2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2825496"/>
            <a:ext cx="219456" cy="21945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784848" y="279806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LỖI PHỔ BIẾN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6455664" y="3145536"/>
            <a:ext cx="5029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OS đa dụng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thừa package và service không cần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SSH mở ra Internet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xác thực mật khẩu yếu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Không vá kernel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và OS định kỳ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Bỏ qua CIS Benchmark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node giữ cấu hình mặc định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6"/>
          <p:cNvSpPr/>
          <p:nvPr/>
        </p:nvSpPr>
        <p:spPr>
          <a:xfrm>
            <a:off x="6272784" y="4517136"/>
            <a:ext cx="5413248" cy="1700784"/>
          </a:xfrm>
          <a:prstGeom prst="roundRect">
            <a:avLst>
              <a:gd name="adj" fmla="val 4301"/>
            </a:avLst>
          </a:prstGeom>
          <a:solidFill>
            <a:srgbClr val="EEF5EF"/>
          </a:solidFill>
          <a:ln w="12700">
            <a:solidFill>
              <a:srgbClr val="D6E5DA"/>
            </a:solidFill>
            <a:prstDash val="solid"/>
          </a:ln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4636008"/>
            <a:ext cx="219456" cy="21945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784848" y="46085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HƯỚNG XỬ LÝ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38"/>
          <p:cNvSpPr/>
          <p:nvPr/>
        </p:nvSpPr>
        <p:spPr>
          <a:xfrm>
            <a:off x="6455664" y="4956048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Immutable OS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container-optimized, tối giản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Bỏ SSH trực tiếp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qua Bastion / IAP kèm MFA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CIS Node Benchmark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hardening theo chuẩn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patching và node rotation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39"/>
          <p:cNvSpPr/>
          <p:nvPr/>
        </p:nvSpPr>
        <p:spPr>
          <a:xfrm>
            <a:off x="502920" y="64282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6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KCD × OpenInfra Days Vietnam 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0"/>
          <p:cNvSpPr/>
          <p:nvPr/>
        </p:nvSpPr>
        <p:spPr>
          <a:xfrm>
            <a:off x="11292840" y="642823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6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0613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unpacked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74320"/>
            <a:ext cx="566928" cy="448056"/>
          </a:xfrm>
          <a:prstGeom prst="rect">
            <a:avLst/>
          </a:prstGeom>
        </p:spPr>
      </p:pic>
      <p:pic>
        <p:nvPicPr>
          <p:cNvPr id="4" name="Image 1" descr="unpacked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88" y="310896"/>
            <a:ext cx="640080" cy="38404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365760"/>
            <a:ext cx="749808" cy="749808"/>
          </a:xfrm>
          <a:prstGeom prst="ellipse">
            <a:avLst/>
          </a:prstGeom>
          <a:solidFill>
            <a:srgbClr val="7A0504"/>
          </a:solidFill>
          <a:ln w="12700">
            <a:solidFill>
              <a:srgbClr val="7A0504"/>
            </a:solidFill>
            <a:prstDash val="solid"/>
          </a:ln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57784"/>
            <a:ext cx="365760" cy="3657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444752" y="3840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7A050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ĐI SÂU 9 LỚP  ·  C2 — CLUSTER (1/2)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3"/>
          <p:cNvSpPr/>
          <p:nvPr/>
        </p:nvSpPr>
        <p:spPr>
          <a:xfrm>
            <a:off x="1417320" y="6583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E1A1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&amp; etcd — trái tim của cụm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02920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02920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1042416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042416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1581912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7A0504"/>
          </a:solidFill>
          <a:ln w="12700">
            <a:solidFill>
              <a:srgbClr val="7A050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581912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2121408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121408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2660904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660904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3200400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0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3739896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739896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4279392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279392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L8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4818888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18888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L9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502920" y="1682496"/>
            <a:ext cx="11228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6E66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Cụm vừa dựng xong, chạy được là dùng — nhưng cấu hình mặc định của Kubernetes để lại rất nhiều rủi ro an toàn thông tin.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502920" y="2176272"/>
            <a:ext cx="11183112" cy="402336"/>
          </a:xfrm>
          <a:prstGeom prst="roundRect">
            <a:avLst>
              <a:gd name="adj" fmla="val 18182"/>
            </a:avLst>
          </a:prstGeom>
          <a:solidFill>
            <a:srgbClr val="1E1A18"/>
          </a:solidFill>
          <a:ln w="12700">
            <a:solidFill>
              <a:srgbClr val="1E1A18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286000"/>
            <a:ext cx="182880" cy="1828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41832" y="2176272"/>
            <a:ext cx="10634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60" normalizeH="0" baseline="0" noProof="0" dirty="0">
                <a:ln>
                  <a:noFill/>
                </a:ln>
                <a:solidFill>
                  <a:srgbClr val="F1C5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L3     CLUSTER COMPONENT — CONTROL PLANE &amp; ETCD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502920" y="2706624"/>
            <a:ext cx="5413248" cy="2670048"/>
          </a:xfrm>
          <a:prstGeom prst="roundRect">
            <a:avLst>
              <a:gd name="adj" fmla="val 2740"/>
            </a:avLst>
          </a:prstGeom>
          <a:solidFill>
            <a:srgbClr val="FCF0EC"/>
          </a:solidFill>
          <a:ln w="12700">
            <a:solidFill>
              <a:srgbClr val="F0D9D2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2825496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14984" y="279806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LỖI PHỔ BIẾN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685800" y="3145536"/>
            <a:ext cx="50292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API Server public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không giới hạn dải IP truy cập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etcd không mã hóa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Secret chỉ ở dạng base64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Thiếu mTLS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giữa apiserver – etcd – kubelet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Admission Controller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request rủi ro vẫn qua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Cert không rotate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hết hạn hoặc self-signed dài hạn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Không bật audit log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ở apiserver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Anonymous auth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vẫn còn bật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6272784" y="2706624"/>
            <a:ext cx="5413248" cy="2670048"/>
          </a:xfrm>
          <a:prstGeom prst="roundRect">
            <a:avLst>
              <a:gd name="adj" fmla="val 2740"/>
            </a:avLst>
          </a:prstGeom>
          <a:solidFill>
            <a:srgbClr val="EEF5EF"/>
          </a:solidFill>
          <a:ln w="12700">
            <a:solidFill>
              <a:srgbClr val="D6E5DA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2825496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784848" y="279806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HƯỚNG XỬ LÝ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6455664" y="3145536"/>
            <a:ext cx="50292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vào qua VPN hoặc IP whitelist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mTLS bắt buộc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cho toàn bộ control plane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Mã hóa etcd at-rest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kết hợp KMS quản lý khóa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Admission Controller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Kyverno / OPA Gatekeeper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Rotate cert tự động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cert-manager, theo dõi hạn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Audit policy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đẩy log ra ngoài (→ Layer 7)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Tắt anonymous auth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502920" y="5559552"/>
            <a:ext cx="11183112" cy="621792"/>
          </a:xfrm>
          <a:prstGeom prst="roundRect">
            <a:avLst>
              <a:gd name="adj" fmla="val 14706"/>
            </a:avLst>
          </a:prstGeom>
          <a:solidFill>
            <a:srgbClr val="7A0504"/>
          </a:solidFill>
          <a:ln w="12700">
            <a:solidFill>
              <a:srgbClr val="7A0504"/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" y="5724144"/>
            <a:ext cx="292608" cy="29260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133856" y="5559552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Chiếm được control plane là chiếm toàn cụm — đây là lớp có bán kính thiệt hại lớn nhất.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3"/>
          <p:cNvSpPr/>
          <p:nvPr/>
        </p:nvSpPr>
        <p:spPr>
          <a:xfrm>
            <a:off x="502920" y="64282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6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KCD × OpenInfra Days Vietnam 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4"/>
          <p:cNvSpPr/>
          <p:nvPr/>
        </p:nvSpPr>
        <p:spPr>
          <a:xfrm>
            <a:off x="11292840" y="642823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6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2818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unpacked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74320"/>
            <a:ext cx="566928" cy="448056"/>
          </a:xfrm>
          <a:prstGeom prst="rect">
            <a:avLst/>
          </a:prstGeom>
        </p:spPr>
      </p:pic>
      <p:pic>
        <p:nvPicPr>
          <p:cNvPr id="4" name="Image 1" descr="unpacked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88" y="310896"/>
            <a:ext cx="640080" cy="38404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365760"/>
            <a:ext cx="749808" cy="749808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57784"/>
            <a:ext cx="365760" cy="3657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444752" y="3840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5B4B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ĐI SÂU 9 LỚP  ·  C2 — CLUSTER (2/2)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3"/>
          <p:cNvSpPr/>
          <p:nvPr/>
        </p:nvSpPr>
        <p:spPr>
          <a:xfrm>
            <a:off x="1417320" y="6583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E1A1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Manifests — siết mạng và quyền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02920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02920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1042416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042416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1581912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581912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2121408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121408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2660904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660904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3200400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0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3739896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739896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4279392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279392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L8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4818888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18888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L9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502920" y="1682496"/>
            <a:ext cx="11228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6E66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Chặn di chuyển ngang và siết quyền truy cập — mạng K8s mặc định phẳng, RBAC mặc định rộng: chiếm một Pod rìa là đủ để đánh ngang cả cụm.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502920" y="2176272"/>
            <a:ext cx="5413248" cy="402336"/>
          </a:xfrm>
          <a:prstGeom prst="roundRect">
            <a:avLst>
              <a:gd name="adj" fmla="val 18182"/>
            </a:avLst>
          </a:prstGeom>
          <a:solidFill>
            <a:srgbClr val="1E1A18"/>
          </a:solidFill>
          <a:ln w="12700">
            <a:solidFill>
              <a:srgbClr val="1E1A18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286000"/>
            <a:ext cx="182880" cy="1828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41832" y="217627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60" normalizeH="0" baseline="0" noProof="0" dirty="0" smtClean="0">
                <a:ln>
                  <a:noFill/>
                </a:ln>
                <a:solidFill>
                  <a:srgbClr val="F1C5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L4    </a:t>
            </a:r>
            <a:r>
              <a:rPr kumimoji="0" lang="en-US" sz="1150" b="1" i="0" u="none" strike="noStrike" kern="0" cap="none" spc="60" normalizeH="0" baseline="0" noProof="0" dirty="0">
                <a:ln>
                  <a:noFill/>
                </a:ln>
                <a:solidFill>
                  <a:srgbClr val="F1C5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502920" y="2706624"/>
            <a:ext cx="5413248" cy="1682496"/>
          </a:xfrm>
          <a:prstGeom prst="roundRect">
            <a:avLst>
              <a:gd name="adj" fmla="val 4348"/>
            </a:avLst>
          </a:prstGeom>
          <a:solidFill>
            <a:srgbClr val="FCF0EC"/>
          </a:solidFill>
          <a:ln w="12700">
            <a:solidFill>
              <a:srgbClr val="F0D9D2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2825496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14984" y="279806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LỖI PHỔ BIẾN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685800" y="3145536"/>
            <a:ext cx="5029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NetworkPolicy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mọi Pod nói chuyện với mọi Pod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Không lọc egress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Pod nhiễm gọi thẳng ra C2 server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Traffic plaintext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giữa các microservice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NodePort / LB tràn lan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mở thẳng ra Internet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502920" y="4517136"/>
            <a:ext cx="5413248" cy="1700784"/>
          </a:xfrm>
          <a:prstGeom prst="roundRect">
            <a:avLst>
              <a:gd name="adj" fmla="val 4301"/>
            </a:avLst>
          </a:prstGeom>
          <a:solidFill>
            <a:srgbClr val="EEF5EF"/>
          </a:solidFill>
          <a:ln w="12700">
            <a:solidFill>
              <a:srgbClr val="D6E5DA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" y="4636008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4984" y="46085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HƯỚNG XỬ LÝ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685800" y="4956048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Default Deny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chặn toàn bộ kết nối vào/ra mặc định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mTLS tự động, kiểm soát truy cập ở L7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Flow visibility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quan sát luồng thật để tinh chỉnh policy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expose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Ingress / Gateway thay cho NodePort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6272784" y="2176272"/>
            <a:ext cx="5413248" cy="402336"/>
          </a:xfrm>
          <a:prstGeom prst="roundRect">
            <a:avLst>
              <a:gd name="adj" fmla="val 18182"/>
            </a:avLst>
          </a:prstGeom>
          <a:solidFill>
            <a:srgbClr val="1E1A18"/>
          </a:solidFill>
          <a:ln w="12700">
            <a:solidFill>
              <a:srgbClr val="1E1A18"/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8232" y="2286000"/>
            <a:ext cx="182880" cy="1828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711696" y="217627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60" normalizeH="0" baseline="0" noProof="0" dirty="0" smtClean="0">
                <a:ln>
                  <a:noFill/>
                </a:ln>
                <a:solidFill>
                  <a:srgbClr val="F1C5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L5     </a:t>
            </a:r>
            <a:r>
              <a:rPr kumimoji="0" lang="en-US" sz="1150" b="1" i="0" u="none" strike="noStrike" kern="0" cap="none" spc="60" normalizeH="0" baseline="0" noProof="0" dirty="0">
                <a:ln>
                  <a:noFill/>
                </a:ln>
                <a:solidFill>
                  <a:srgbClr val="F1C5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MANIFESTS &amp; ACCESS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6272784" y="2706624"/>
            <a:ext cx="5413248" cy="1682496"/>
          </a:xfrm>
          <a:prstGeom prst="roundRect">
            <a:avLst>
              <a:gd name="adj" fmla="val 4348"/>
            </a:avLst>
          </a:prstGeom>
          <a:solidFill>
            <a:srgbClr val="FCF0EC"/>
          </a:solidFill>
          <a:ln w="12700">
            <a:solidFill>
              <a:srgbClr val="F0D9D2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2825496"/>
            <a:ext cx="219456" cy="21945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784848" y="279806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LỖI PHỔ BIẾN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6455664" y="3145536"/>
            <a:ext cx="5029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RBAC quá rộng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cluster-admin cho cả user, CI, SA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 token tự động mount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vào Pod không cần đến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Secret plaintext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trong manifest, commit lên Git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Thiếu Pod Security Admission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Pod chạy được privileged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6"/>
          <p:cNvSpPr/>
          <p:nvPr/>
        </p:nvSpPr>
        <p:spPr>
          <a:xfrm>
            <a:off x="6272784" y="4517136"/>
            <a:ext cx="5413248" cy="1700784"/>
          </a:xfrm>
          <a:prstGeom prst="roundRect">
            <a:avLst>
              <a:gd name="adj" fmla="val 4301"/>
            </a:avLst>
          </a:prstGeom>
          <a:solidFill>
            <a:srgbClr val="EEF5EF"/>
          </a:solidFill>
          <a:ln w="12700">
            <a:solidFill>
              <a:srgbClr val="D6E5DA"/>
            </a:solidFill>
            <a:prstDash val="solid"/>
          </a:ln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4636008"/>
            <a:ext cx="219456" cy="21945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784848" y="46085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HƯỚNG XỬ LÝ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38"/>
          <p:cNvSpPr/>
          <p:nvPr/>
        </p:nvSpPr>
        <p:spPr>
          <a:xfrm>
            <a:off x="6455664" y="4956048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RBAC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role tối thiểu, review định kỳ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Tắt automount SA token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dùng bound token vòng đời ngắn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Secret ra khỏi Git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Sealed / External Secrets, Vault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Kyverno / OPA chặn tại admission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39"/>
          <p:cNvSpPr/>
          <p:nvPr/>
        </p:nvSpPr>
        <p:spPr>
          <a:xfrm>
            <a:off x="502920" y="64282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6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KCD × OpenInfra Days Vietnam 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0"/>
          <p:cNvSpPr/>
          <p:nvPr/>
        </p:nvSpPr>
        <p:spPr>
          <a:xfrm>
            <a:off x="11292840" y="642823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6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6693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unpacked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74320"/>
            <a:ext cx="566928" cy="448056"/>
          </a:xfrm>
          <a:prstGeom prst="rect">
            <a:avLst/>
          </a:prstGeom>
        </p:spPr>
      </p:pic>
      <p:pic>
        <p:nvPicPr>
          <p:cNvPr id="4" name="Image 1" descr="unpacked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88" y="310896"/>
            <a:ext cx="640080" cy="38404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365760"/>
            <a:ext cx="749808" cy="749808"/>
          </a:xfrm>
          <a:prstGeom prst="ellipse">
            <a:avLst/>
          </a:prstGeom>
          <a:solidFill>
            <a:srgbClr val="B0641C"/>
          </a:solidFill>
          <a:ln w="12700">
            <a:solidFill>
              <a:srgbClr val="B0641C"/>
            </a:solidFill>
            <a:prstDash val="solid"/>
          </a:ln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57784"/>
            <a:ext cx="365760" cy="3657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444752" y="3840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B064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ĐI SÂU 9 LỚP  ·  C3 — CONTAINER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3"/>
          <p:cNvSpPr/>
          <p:nvPr/>
        </p:nvSpPr>
        <p:spPr>
          <a:xfrm>
            <a:off x="1417320" y="6583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E1A1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Runtime — tối giản và giám sát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02920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02920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1042416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042416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1581912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581912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2121408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B0641C"/>
          </a:solidFill>
          <a:ln w="12700">
            <a:solidFill>
              <a:srgbClr val="B0641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121408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2660904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660904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3200400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0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3739896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B0641C"/>
          </a:solidFill>
          <a:ln w="12700">
            <a:solidFill>
              <a:srgbClr val="B0641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739896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4279392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279392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L8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4818888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18888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L9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502920" y="1682496"/>
            <a:ext cx="11228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6E66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tối giản để giảm bề mặt tấn công trước khi chạy (L4); giám sát tới hành vi để phát hiện khi đã có chuyện (L7).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502920" y="2176272"/>
            <a:ext cx="5413248" cy="402336"/>
          </a:xfrm>
          <a:prstGeom prst="roundRect">
            <a:avLst>
              <a:gd name="adj" fmla="val 18182"/>
            </a:avLst>
          </a:prstGeom>
          <a:solidFill>
            <a:srgbClr val="1E1A18"/>
          </a:solidFill>
          <a:ln w="12700">
            <a:solidFill>
              <a:srgbClr val="1E1A18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286000"/>
            <a:ext cx="182880" cy="1828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41832" y="217627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60" normalizeH="0" baseline="0" noProof="0" dirty="0" smtClean="0">
                <a:ln>
                  <a:noFill/>
                </a:ln>
                <a:solidFill>
                  <a:srgbClr val="F1C5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L6    </a:t>
            </a:r>
            <a:r>
              <a:rPr kumimoji="0" lang="en-US" sz="1150" b="1" i="0" u="none" strike="noStrike" kern="0" cap="none" spc="60" normalizeH="0" baseline="0" noProof="0" dirty="0">
                <a:ln>
                  <a:noFill/>
                </a:ln>
                <a:solidFill>
                  <a:srgbClr val="F1C5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&amp; IMAGE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502920" y="2706624"/>
            <a:ext cx="5413248" cy="1682496"/>
          </a:xfrm>
          <a:prstGeom prst="roundRect">
            <a:avLst>
              <a:gd name="adj" fmla="val 4348"/>
            </a:avLst>
          </a:prstGeom>
          <a:solidFill>
            <a:srgbClr val="FCF0EC"/>
          </a:solidFill>
          <a:ln w="12700">
            <a:solidFill>
              <a:srgbClr val="F0D9D2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2825496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14984" y="279806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LỖI PHỔ BIẾN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685800" y="3145536"/>
            <a:ext cx="5029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Chạy bằng root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container dùng UID 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 image nặng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thừa công cụ, tăng bề mặt tấn công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Không quét CVE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trước khi lên production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Tag :latest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thay vì pin theo digest SHA256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502920" y="4517136"/>
            <a:ext cx="5413248" cy="1700784"/>
          </a:xfrm>
          <a:prstGeom prst="roundRect">
            <a:avLst>
              <a:gd name="adj" fmla="val 4301"/>
            </a:avLst>
          </a:prstGeom>
          <a:solidFill>
            <a:srgbClr val="EEF5EF"/>
          </a:solidFill>
          <a:ln w="12700">
            <a:solidFill>
              <a:srgbClr val="D6E5DA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" y="4636008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4984" y="46085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HƯỚNG XỬ LÝ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685800" y="4956048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 image tối giản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distroless/alpine, pin theo digest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runAsNonRoot, readOnlyRootFS, drop ALL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Chặn tại admission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privileged, host namespace, hostPath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Scan + ký image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CVE ở CI/CD và admission, Cosign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6272784" y="2176272"/>
            <a:ext cx="5413248" cy="402336"/>
          </a:xfrm>
          <a:prstGeom prst="roundRect">
            <a:avLst>
              <a:gd name="adj" fmla="val 18182"/>
            </a:avLst>
          </a:prstGeom>
          <a:solidFill>
            <a:srgbClr val="1E1A18"/>
          </a:solidFill>
          <a:ln w="12700">
            <a:solidFill>
              <a:srgbClr val="1E1A18"/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8232" y="2286000"/>
            <a:ext cx="182880" cy="1828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711696" y="217627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60" normalizeH="0" baseline="0" noProof="0" dirty="0">
                <a:ln>
                  <a:noFill/>
                </a:ln>
                <a:solidFill>
                  <a:srgbClr val="F1C5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L7     OBSERVABILITY &amp; RUNTIME DETECTION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6272784" y="2706624"/>
            <a:ext cx="5413248" cy="1682496"/>
          </a:xfrm>
          <a:prstGeom prst="roundRect">
            <a:avLst>
              <a:gd name="adj" fmla="val 4348"/>
            </a:avLst>
          </a:prstGeom>
          <a:solidFill>
            <a:srgbClr val="FCF0EC"/>
          </a:solidFill>
          <a:ln w="12700">
            <a:solidFill>
              <a:srgbClr val="F0D9D2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2825496"/>
            <a:ext cx="219456" cy="21945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784848" y="279806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LỖI PHỔ BIẾN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6455664" y="3145536"/>
            <a:ext cx="5029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Chỉ có metric hạ tầng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không có runtime detection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Audit log không đủ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không điều tra được sau sự cố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Không cảnh báo bất thường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exec vào Pod, egress lạ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Log phân tán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không immutable, attacker xóa dấu vết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6"/>
          <p:cNvSpPr/>
          <p:nvPr/>
        </p:nvSpPr>
        <p:spPr>
          <a:xfrm>
            <a:off x="6272784" y="4517136"/>
            <a:ext cx="5413248" cy="1700784"/>
          </a:xfrm>
          <a:prstGeom prst="roundRect">
            <a:avLst>
              <a:gd name="adj" fmla="val 4301"/>
            </a:avLst>
          </a:prstGeom>
          <a:solidFill>
            <a:srgbClr val="EEF5EF"/>
          </a:solidFill>
          <a:ln w="12700">
            <a:solidFill>
              <a:srgbClr val="D6E5DA"/>
            </a:solidFill>
            <a:prstDash val="solid"/>
          </a:ln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4636008"/>
            <a:ext cx="219456" cy="21945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784848" y="46085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HƯỚNG XỬ LÝ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38"/>
          <p:cNvSpPr/>
          <p:nvPr/>
        </p:nvSpPr>
        <p:spPr>
          <a:xfrm>
            <a:off x="6455664" y="4956048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Runtime detection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Falco / Tetragon bắt hành vi lạ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Log tập trung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immutable, giữ đủ lâu theo compliance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Rule phát hiện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exec, spawn shell, egress lạ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SIEM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kèm quy trình on-call và runbook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39"/>
          <p:cNvSpPr/>
          <p:nvPr/>
        </p:nvSpPr>
        <p:spPr>
          <a:xfrm>
            <a:off x="502920" y="64282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6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KCD × OpenInfra Days Vietnam 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0"/>
          <p:cNvSpPr/>
          <p:nvPr/>
        </p:nvSpPr>
        <p:spPr>
          <a:xfrm>
            <a:off x="11292840" y="642823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6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8261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unpacked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74320"/>
            <a:ext cx="566928" cy="448056"/>
          </a:xfrm>
          <a:prstGeom prst="rect">
            <a:avLst/>
          </a:prstGeom>
        </p:spPr>
      </p:pic>
      <p:pic>
        <p:nvPicPr>
          <p:cNvPr id="4" name="Image 1" descr="unpacked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88" y="310896"/>
            <a:ext cx="640080" cy="38404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365760"/>
            <a:ext cx="749808" cy="749808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57784"/>
            <a:ext cx="365760" cy="3657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444752" y="3840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ĐI SÂU 9 LỚP  ·  C4 — CODE &amp; GOVERNANCE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3"/>
          <p:cNvSpPr/>
          <p:nvPr/>
        </p:nvSpPr>
        <p:spPr>
          <a:xfrm>
            <a:off x="1417320" y="6583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E1A1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Con người — mắt xích dễ đứt nhất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02920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02920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1042416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042416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1581912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581912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2121408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121408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2660904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660904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3200400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0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3739896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E9DFCC"/>
          </a:solidFill>
          <a:ln w="12700">
            <a:solidFill>
              <a:srgbClr val="E0D3B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739896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8B81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4279392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279392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L8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4818888" y="1261872"/>
            <a:ext cx="457200" cy="292608"/>
          </a:xfrm>
          <a:prstGeom prst="roundRect">
            <a:avLst>
              <a:gd name="adj" fmla="val 21875"/>
            </a:avLst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18888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L9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502920" y="1682496"/>
            <a:ext cx="11228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6E66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Nơi lỗ hổng bắt đầu: harden cụm tốt đến mấy mà ứng dụng tự mở cửa hoặc laptop admin bị chiếm, thì mọi lớp trên đều vô hiệu.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502920" y="2176272"/>
            <a:ext cx="5413248" cy="402336"/>
          </a:xfrm>
          <a:prstGeom prst="roundRect">
            <a:avLst>
              <a:gd name="adj" fmla="val 18182"/>
            </a:avLst>
          </a:prstGeom>
          <a:solidFill>
            <a:srgbClr val="1E1A18"/>
          </a:solidFill>
          <a:ln w="12700">
            <a:solidFill>
              <a:srgbClr val="1E1A18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286000"/>
            <a:ext cx="182880" cy="1828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41832" y="217627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60" normalizeH="0" baseline="0" noProof="0" dirty="0">
                <a:ln>
                  <a:noFill/>
                </a:ln>
                <a:solidFill>
                  <a:srgbClr val="F1C5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L8     CODE &amp; APPLICATION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502920" y="2706624"/>
            <a:ext cx="5413248" cy="1682496"/>
          </a:xfrm>
          <a:prstGeom prst="roundRect">
            <a:avLst>
              <a:gd name="adj" fmla="val 4348"/>
            </a:avLst>
          </a:prstGeom>
          <a:solidFill>
            <a:srgbClr val="FCF0EC"/>
          </a:solidFill>
          <a:ln w="12700">
            <a:solidFill>
              <a:srgbClr val="F0D9D2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2825496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14984" y="279806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LỖI PHỔ BIẾN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685800" y="3145536"/>
            <a:ext cx="5029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Hardcode secret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API key, password commit lên Git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Không quét trong CI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thiếu SAST/SCA, không security gate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lỗi thời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dính CVE đã có exploit, không SBOM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Chuỗi cung ứng bỏ ngỏ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không kiểm chứng toàn vẹn artifact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502920" y="4517136"/>
            <a:ext cx="5413248" cy="1700784"/>
          </a:xfrm>
          <a:prstGeom prst="roundRect">
            <a:avLst>
              <a:gd name="adj" fmla="val 4301"/>
            </a:avLst>
          </a:prstGeom>
          <a:solidFill>
            <a:srgbClr val="EEF5EF"/>
          </a:solidFill>
          <a:ln w="12700">
            <a:solidFill>
              <a:srgbClr val="D6E5DA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" y="4636008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4984" y="46085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HƯỚNG XỬ LÝ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685800" y="4956048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ở pre-commit và CI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SAST + SCA + DAST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security gate chặn build khi vi phạm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SBOM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quản lý dependency, theo dõi CVE liên tục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Chuẩn SLSA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ký artifact, kiểm chứng provenance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6272784" y="2176272"/>
            <a:ext cx="5413248" cy="402336"/>
          </a:xfrm>
          <a:prstGeom prst="roundRect">
            <a:avLst>
              <a:gd name="adj" fmla="val 18182"/>
            </a:avLst>
          </a:prstGeom>
          <a:solidFill>
            <a:srgbClr val="1E1A18"/>
          </a:solidFill>
          <a:ln w="12700">
            <a:solidFill>
              <a:srgbClr val="1E1A18"/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8232" y="2286000"/>
            <a:ext cx="182880" cy="1828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711696" y="217627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60" normalizeH="0" baseline="0" noProof="0" dirty="0">
                <a:ln>
                  <a:noFill/>
                </a:ln>
                <a:solidFill>
                  <a:srgbClr val="F1C5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L9     GOVERNANCE &amp; HUMAN FACTORS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6272784" y="2706624"/>
            <a:ext cx="5413248" cy="1682496"/>
          </a:xfrm>
          <a:prstGeom prst="roundRect">
            <a:avLst>
              <a:gd name="adj" fmla="val 4348"/>
            </a:avLst>
          </a:prstGeom>
          <a:solidFill>
            <a:srgbClr val="FCF0EC"/>
          </a:solidFill>
          <a:ln w="12700">
            <a:solidFill>
              <a:srgbClr val="F0D9D2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2825496"/>
            <a:ext cx="219456" cy="21945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784848" y="279806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LỖI PHỔ BIẾN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6455664" y="3145536"/>
            <a:ext cx="5029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Offboarding lỏng lẻo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nghỉ việc nhưng quyền vẫn còn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Quyền tạm thành vĩnh viễn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cấp tạm, không review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Thiếu chính sách &amp; runbook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không RACI, không diễn tập IR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1C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Endpoint không quản lý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kubeconfig, key nằm trên laptop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6"/>
          <p:cNvSpPr/>
          <p:nvPr/>
        </p:nvSpPr>
        <p:spPr>
          <a:xfrm>
            <a:off x="6272784" y="4517136"/>
            <a:ext cx="5413248" cy="1700784"/>
          </a:xfrm>
          <a:prstGeom prst="roundRect">
            <a:avLst>
              <a:gd name="adj" fmla="val 4301"/>
            </a:avLst>
          </a:prstGeom>
          <a:solidFill>
            <a:srgbClr val="EEF5EF"/>
          </a:solidFill>
          <a:ln w="12700">
            <a:solidFill>
              <a:srgbClr val="D6E5DA"/>
            </a:solidFill>
            <a:prstDash val="solid"/>
          </a:ln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4636008"/>
            <a:ext cx="219456" cy="21945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784848" y="460857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2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HƯỚNG XỬ LÝ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38"/>
          <p:cNvSpPr/>
          <p:nvPr/>
        </p:nvSpPr>
        <p:spPr>
          <a:xfrm>
            <a:off x="6455664" y="4956048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/ offboarding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gắn IAM, thu hồi quyền tự động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least privilege cho người như với máy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Chính sách + RACI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IR runbook và diễn tập định kỳ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C6E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credential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0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—  production qua bastion / ZT proxy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39"/>
          <p:cNvSpPr/>
          <p:nvPr/>
        </p:nvSpPr>
        <p:spPr>
          <a:xfrm>
            <a:off x="502920" y="64282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6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KCD × OpenInfra Days Vietnam 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0"/>
          <p:cNvSpPr/>
          <p:nvPr/>
        </p:nvSpPr>
        <p:spPr>
          <a:xfrm>
            <a:off x="11292840" y="642823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E66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1663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k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74320"/>
            <a:ext cx="566928" cy="448056"/>
          </a:xfrm>
          <a:prstGeom prst="rect">
            <a:avLst/>
          </a:prstGeom>
        </p:spPr>
      </p:pic>
      <p:pic>
        <p:nvPicPr>
          <p:cNvPr id="3" name="Image 1" descr="assets/logo_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088" y="310896"/>
            <a:ext cx="640080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384048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713232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640080" y="18745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77824" y="2185416"/>
            <a:ext cx="548640" cy="548640"/>
          </a:xfrm>
          <a:prstGeom prst="ellipse">
            <a:avLst/>
          </a:prstGeom>
          <a:solidFill>
            <a:srgbClr val="7A0504"/>
          </a:solidFill>
          <a:ln/>
        </p:spPr>
      </p:sp>
      <p:sp>
        <p:nvSpPr>
          <p:cNvPr id="8" name="Text 4"/>
          <p:cNvSpPr/>
          <p:nvPr/>
        </p:nvSpPr>
        <p:spPr>
          <a:xfrm>
            <a:off x="877824" y="21854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600200" y="200253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 là cách nghĩ, 9 lớp là cách làm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600200" y="24231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vòng chỉ an toàn khi vòng ngoài an toàn — bảo mật phải xuyên suốt, không rời rạc.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355080" y="18745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92824" y="2185416"/>
            <a:ext cx="548640" cy="548640"/>
          </a:xfrm>
          <a:prstGeom prst="ellipse">
            <a:avLst/>
          </a:prstGeom>
          <a:solidFill>
            <a:srgbClr val="F1C560"/>
          </a:solidFill>
          <a:ln/>
        </p:spPr>
      </p:sp>
      <p:sp>
        <p:nvSpPr>
          <p:cNvPr id="13" name="Text 9"/>
          <p:cNvSpPr/>
          <p:nvPr/>
        </p:nvSpPr>
        <p:spPr>
          <a:xfrm>
            <a:off x="6592824" y="21854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315200" y="200253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lớn nhất là 'phòng được'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315200" y="24231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sự cố do misconfig, chuỗi cung ứng tăng 75% — đều xử lý được bằng cấu hình &amp; policy đúng.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32461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77824" y="3557016"/>
            <a:ext cx="548640" cy="548640"/>
          </a:xfrm>
          <a:prstGeom prst="ellipse">
            <a:avLst/>
          </a:prstGeom>
          <a:solidFill>
            <a:srgbClr val="7A0504"/>
          </a:solidFill>
          <a:ln/>
        </p:spPr>
      </p:sp>
      <p:sp>
        <p:nvSpPr>
          <p:cNvPr id="18" name="Text 14"/>
          <p:cNvSpPr/>
          <p:nvPr/>
        </p:nvSpPr>
        <p:spPr>
          <a:xfrm>
            <a:off x="877824" y="35570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600200" y="337413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lý dẫn đường công cụ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1600200" y="37947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· Zero Trust · Defense in Depth — công cụ chỉ là phương tiện hiện thực hóa.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355080" y="32461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592824" y="3557016"/>
            <a:ext cx="548640" cy="548640"/>
          </a:xfrm>
          <a:prstGeom prst="ellipse">
            <a:avLst/>
          </a:prstGeom>
          <a:solidFill>
            <a:srgbClr val="F1C560"/>
          </a:solidFill>
          <a:ln/>
        </p:spPr>
      </p:sp>
      <p:sp>
        <p:nvSpPr>
          <p:cNvPr id="23" name="Text 19"/>
          <p:cNvSpPr/>
          <p:nvPr/>
        </p:nvSpPr>
        <p:spPr>
          <a:xfrm>
            <a:off x="6592824" y="35570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7315200" y="337413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từ quick win rủi ro thấp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7315200" y="37947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etcd, PSA restricted, default-deny, kube-bench — làm ngay, giá trị cao, ít rủi ro.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40080" y="46177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77824" y="4928616"/>
            <a:ext cx="548640" cy="548640"/>
          </a:xfrm>
          <a:prstGeom prst="ellipse">
            <a:avLst/>
          </a:prstGeom>
          <a:solidFill>
            <a:srgbClr val="7A0504"/>
          </a:solidFill>
          <a:ln/>
        </p:spPr>
      </p:sp>
      <p:sp>
        <p:nvSpPr>
          <p:cNvPr id="28" name="Text 24"/>
          <p:cNvSpPr/>
          <p:nvPr/>
        </p:nvSpPr>
        <p:spPr>
          <a:xfrm>
            <a:off x="877824" y="49286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C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1600200" y="474573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nào cũng là mục tiêu trực diện</a:t>
            </a:r>
            <a:endParaRPr lang="en-US" sz="1450" dirty="0"/>
          </a:p>
        </p:txBody>
      </p:sp>
      <p:sp>
        <p:nvSpPr>
          <p:cNvPr id="30" name="Text 26"/>
          <p:cNvSpPr/>
          <p:nvPr/>
        </p:nvSpPr>
        <p:spPr>
          <a:xfrm>
            <a:off x="1600200" y="51663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Kẻ tấn công không chỉ leo thang từ ngoài vào — mỗi lớp đều có thể bị đánh thẳng, nên đều cần phòng thủ riêng.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355080" y="46177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0CB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592824" y="4928616"/>
            <a:ext cx="548640" cy="548640"/>
          </a:xfrm>
          <a:prstGeom prst="ellipse">
            <a:avLst/>
          </a:prstGeom>
          <a:solidFill>
            <a:srgbClr val="F1C560"/>
          </a:solidFill>
          <a:ln/>
        </p:spPr>
      </p:sp>
      <p:sp>
        <p:nvSpPr>
          <p:cNvPr id="33" name="Text 29"/>
          <p:cNvSpPr/>
          <p:nvPr/>
        </p:nvSpPr>
        <p:spPr>
          <a:xfrm>
            <a:off x="6592824" y="49286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05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7315200" y="474573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E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công thức chung — áp dụng theo bối cảnh</a:t>
            </a:r>
            <a:endParaRPr lang="en-US" sz="1450" dirty="0"/>
          </a:p>
        </p:txBody>
      </p:sp>
      <p:sp>
        <p:nvSpPr>
          <p:cNvPr id="35" name="Text 31"/>
          <p:cNvSpPr/>
          <p:nvPr/>
        </p:nvSpPr>
        <p:spPr>
          <a:xfrm>
            <a:off x="7315200" y="51663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lớp là góc nhìn tổng quan; triển khai tới đâu phải cân theo con người, nỗ lực, phạm vi, nhu cầu.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502920" y="64282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KCD × OpenInfra Days Vietnam 2026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11338560" y="64282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2148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1C56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85216" y="2880360"/>
            <a:ext cx="109728" cy="109728"/>
          </a:xfrm>
          <a:prstGeom prst="rect">
            <a:avLst/>
          </a:prstGeom>
          <a:solidFill>
            <a:srgbClr val="7A0504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2880360"/>
            <a:ext cx="109728" cy="109728"/>
          </a:xfrm>
          <a:prstGeom prst="rect">
            <a:avLst/>
          </a:prstGeom>
          <a:solidFill>
            <a:srgbClr val="F1C560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3008376"/>
            <a:ext cx="109728" cy="109728"/>
          </a:xfrm>
          <a:prstGeom prst="rect">
            <a:avLst/>
          </a:prstGeom>
          <a:solidFill>
            <a:srgbClr val="F1C560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3008376"/>
            <a:ext cx="109728" cy="109728"/>
          </a:xfrm>
          <a:prstGeom prst="rect">
            <a:avLst/>
          </a:prstGeom>
          <a:solidFill>
            <a:srgbClr val="7A0504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8163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 </a:t>
            </a:r>
            <a:r>
              <a:rPr kumimoji="0" lang="en-US" sz="17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Phạm</a:t>
            </a:r>
            <a:r>
              <a:rPr kumimoji="0" lang="en-US" sz="1700" b="1" i="0" u="none" strike="noStrike" kern="120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700" b="1" i="0" u="none" strike="noStrike" kern="1200" cap="none" spc="0" normalizeH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Văn</a:t>
            </a:r>
            <a:r>
              <a:rPr kumimoji="0" lang="en-US" sz="1700" b="1" i="0" u="none" strike="noStrike" kern="120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700" b="1" i="0" u="none" strike="noStrike" kern="1200" cap="none" spc="0" normalizeH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Tới</a:t>
            </a:r>
            <a:r>
              <a:rPr kumimoji="0" lang="en-US" sz="1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DE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00" dirty="0" smtClean="0">
                <a:solidFill>
                  <a:srgbClr val="F7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www.linkedin.com/in/crvt4722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DE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00" noProof="0" dirty="0" smtClean="0">
                <a:solidFill>
                  <a:srgbClr val="F7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toipham.work@gmail.com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F1C56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#KCDVietnam2026   ·   #OpenInfraDays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kc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6683" y="365760"/>
            <a:ext cx="810341" cy="640080"/>
          </a:xfrm>
          <a:prstGeom prst="rect">
            <a:avLst/>
          </a:prstGeom>
        </p:spPr>
      </p:pic>
      <p:pic>
        <p:nvPicPr>
          <p:cNvPr id="11" name="Image 1" descr="oi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3329" y="365760"/>
            <a:ext cx="826983" cy="640080"/>
          </a:xfrm>
          <a:prstGeom prst="rect">
            <a:avLst/>
          </a:prstGeom>
        </p:spPr>
      </p:pic>
      <p:sp>
        <p:nvSpPr>
          <p:cNvPr id="12" name="Shape 2"/>
          <p:cNvSpPr/>
          <p:nvPr/>
        </p:nvSpPr>
        <p:spPr>
          <a:xfrm>
            <a:off x="562900" y="3429000"/>
            <a:ext cx="109728" cy="109728"/>
          </a:xfrm>
          <a:prstGeom prst="rect">
            <a:avLst/>
          </a:prstGeom>
          <a:solidFill>
            <a:srgbClr val="7A0504"/>
          </a:solidFill>
          <a:ln/>
        </p:spPr>
      </p:sp>
      <p:sp>
        <p:nvSpPr>
          <p:cNvPr id="13" name="Shape 3"/>
          <p:cNvSpPr/>
          <p:nvPr/>
        </p:nvSpPr>
        <p:spPr>
          <a:xfrm>
            <a:off x="690916" y="3429000"/>
            <a:ext cx="109728" cy="109728"/>
          </a:xfrm>
          <a:prstGeom prst="rect">
            <a:avLst/>
          </a:prstGeom>
          <a:solidFill>
            <a:srgbClr val="F1C560"/>
          </a:solidFill>
          <a:ln/>
        </p:spPr>
      </p:sp>
      <p:sp>
        <p:nvSpPr>
          <p:cNvPr id="14" name="Shape 4"/>
          <p:cNvSpPr/>
          <p:nvPr/>
        </p:nvSpPr>
        <p:spPr>
          <a:xfrm>
            <a:off x="562900" y="3557016"/>
            <a:ext cx="109728" cy="109728"/>
          </a:xfrm>
          <a:prstGeom prst="rect">
            <a:avLst/>
          </a:prstGeom>
          <a:solidFill>
            <a:srgbClr val="F1C560"/>
          </a:solidFill>
          <a:ln/>
        </p:spPr>
      </p:sp>
      <p:sp>
        <p:nvSpPr>
          <p:cNvPr id="15" name="Shape 5"/>
          <p:cNvSpPr/>
          <p:nvPr/>
        </p:nvSpPr>
        <p:spPr>
          <a:xfrm>
            <a:off x="690916" y="3557016"/>
            <a:ext cx="109728" cy="109728"/>
          </a:xfrm>
          <a:prstGeom prst="rect">
            <a:avLst/>
          </a:prstGeom>
          <a:solidFill>
            <a:srgbClr val="7A0504"/>
          </a:solidFill>
          <a:ln/>
        </p:spPr>
      </p:sp>
      <p:sp>
        <p:nvSpPr>
          <p:cNvPr id="16" name="Text 6"/>
          <p:cNvSpPr/>
          <p:nvPr/>
        </p:nvSpPr>
        <p:spPr>
          <a:xfrm>
            <a:off x="873796" y="33649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 </a:t>
            </a:r>
            <a:r>
              <a:rPr lang="en-US" sz="17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Đỗ</a:t>
            </a:r>
            <a:r>
              <a:rPr lang="en-US" sz="17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</a:t>
            </a:r>
            <a:r>
              <a:rPr lang="en-US" sz="17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Hoàng</a:t>
            </a:r>
            <a:r>
              <a:rPr kumimoji="0" lang="en-US" sz="1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DE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DE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00" dirty="0" smtClean="0">
                <a:solidFill>
                  <a:srgbClr val="F7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www.linkedin.com/in/crvt4722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7DE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00" noProof="0" dirty="0" smtClean="0">
                <a:solidFill>
                  <a:srgbClr val="F7D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toipham.work@gmail.com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6870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2955</Words>
  <Application>Microsoft Office PowerPoint</Application>
  <PresentationFormat>Widescreen</PresentationFormat>
  <Paragraphs>398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4</cp:revision>
  <dcterms:created xsi:type="dcterms:W3CDTF">2026-07-22T16:44:32Z</dcterms:created>
  <dcterms:modified xsi:type="dcterms:W3CDTF">2026-07-23T03:17:51Z</dcterms:modified>
</cp:coreProperties>
</file>